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5" r:id="rId1"/>
  </p:sldMasterIdLst>
  <p:notesMasterIdLst>
    <p:notesMasterId r:id="rId3"/>
  </p:notesMasterIdLst>
  <p:handoutMasterIdLst>
    <p:handoutMasterId r:id="rId4"/>
  </p:handoutMasterIdLst>
  <p:sldIdLst>
    <p:sldId id="257" r:id="rId2"/>
  </p:sldIdLst>
  <p:sldSz cx="37463413" cy="21067713"/>
  <p:notesSz cx="6858000" cy="9144000"/>
  <p:defaultTextStyle>
    <a:defPPr>
      <a:defRPr lang="en-US"/>
    </a:defPPr>
    <a:lvl1pPr marL="0" algn="l" defTabSz="2809388" rtl="0" eaLnBrk="1" latinLnBrk="0" hangingPunct="1">
      <a:defRPr sz="5531" kern="1200">
        <a:solidFill>
          <a:schemeClr val="tx1"/>
        </a:solidFill>
        <a:latin typeface="+mn-lt"/>
        <a:ea typeface="+mn-ea"/>
        <a:cs typeface="+mn-cs"/>
      </a:defRPr>
    </a:lvl1pPr>
    <a:lvl2pPr marL="1404694" algn="l" defTabSz="2809388" rtl="0" eaLnBrk="1" latinLnBrk="0" hangingPunct="1">
      <a:defRPr sz="5531" kern="1200">
        <a:solidFill>
          <a:schemeClr val="tx1"/>
        </a:solidFill>
        <a:latin typeface="+mn-lt"/>
        <a:ea typeface="+mn-ea"/>
        <a:cs typeface="+mn-cs"/>
      </a:defRPr>
    </a:lvl2pPr>
    <a:lvl3pPr marL="2809388" algn="l" defTabSz="2809388" rtl="0" eaLnBrk="1" latinLnBrk="0" hangingPunct="1">
      <a:defRPr sz="5531" kern="1200">
        <a:solidFill>
          <a:schemeClr val="tx1"/>
        </a:solidFill>
        <a:latin typeface="+mn-lt"/>
        <a:ea typeface="+mn-ea"/>
        <a:cs typeface="+mn-cs"/>
      </a:defRPr>
    </a:lvl3pPr>
    <a:lvl4pPr marL="4214082" algn="l" defTabSz="2809388" rtl="0" eaLnBrk="1" latinLnBrk="0" hangingPunct="1">
      <a:defRPr sz="5531" kern="1200">
        <a:solidFill>
          <a:schemeClr val="tx1"/>
        </a:solidFill>
        <a:latin typeface="+mn-lt"/>
        <a:ea typeface="+mn-ea"/>
        <a:cs typeface="+mn-cs"/>
      </a:defRPr>
    </a:lvl4pPr>
    <a:lvl5pPr marL="5618776" algn="l" defTabSz="2809388" rtl="0" eaLnBrk="1" latinLnBrk="0" hangingPunct="1">
      <a:defRPr sz="5531" kern="1200">
        <a:solidFill>
          <a:schemeClr val="tx1"/>
        </a:solidFill>
        <a:latin typeface="+mn-lt"/>
        <a:ea typeface="+mn-ea"/>
        <a:cs typeface="+mn-cs"/>
      </a:defRPr>
    </a:lvl5pPr>
    <a:lvl6pPr marL="7023470" algn="l" defTabSz="2809388" rtl="0" eaLnBrk="1" latinLnBrk="0" hangingPunct="1">
      <a:defRPr sz="5531" kern="1200">
        <a:solidFill>
          <a:schemeClr val="tx1"/>
        </a:solidFill>
        <a:latin typeface="+mn-lt"/>
        <a:ea typeface="+mn-ea"/>
        <a:cs typeface="+mn-cs"/>
      </a:defRPr>
    </a:lvl6pPr>
    <a:lvl7pPr marL="8428163" algn="l" defTabSz="2809388" rtl="0" eaLnBrk="1" latinLnBrk="0" hangingPunct="1">
      <a:defRPr sz="5531" kern="1200">
        <a:solidFill>
          <a:schemeClr val="tx1"/>
        </a:solidFill>
        <a:latin typeface="+mn-lt"/>
        <a:ea typeface="+mn-ea"/>
        <a:cs typeface="+mn-cs"/>
      </a:defRPr>
    </a:lvl7pPr>
    <a:lvl8pPr marL="9832858" algn="l" defTabSz="2809388" rtl="0" eaLnBrk="1" latinLnBrk="0" hangingPunct="1">
      <a:defRPr sz="5531" kern="1200">
        <a:solidFill>
          <a:schemeClr val="tx1"/>
        </a:solidFill>
        <a:latin typeface="+mn-lt"/>
        <a:ea typeface="+mn-ea"/>
        <a:cs typeface="+mn-cs"/>
      </a:defRPr>
    </a:lvl8pPr>
    <a:lvl9pPr marL="11237552" algn="l" defTabSz="2809388" rtl="0" eaLnBrk="1" latinLnBrk="0" hangingPunct="1">
      <a:defRPr sz="553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32" userDrawn="1">
          <p15:clr>
            <a:srgbClr val="A4A3A4"/>
          </p15:clr>
        </p15:guide>
        <p15:guide id="2" orient="horz" pos="3396" userDrawn="1">
          <p15:clr>
            <a:srgbClr val="A4A3A4"/>
          </p15:clr>
        </p15:guide>
        <p15:guide id="3" pos="23056" userDrawn="1">
          <p15:clr>
            <a:srgbClr val="A4A3A4"/>
          </p15:clr>
        </p15:guide>
        <p15:guide id="4" pos="520" userDrawn="1">
          <p15:clr>
            <a:srgbClr val="A4A3A4"/>
          </p15:clr>
        </p15:guide>
        <p15:guide id="5" pos="5848" userDrawn="1">
          <p15:clr>
            <a:srgbClr val="A4A3A4"/>
          </p15:clr>
        </p15:guide>
        <p15:guide id="6" pos="6232" userDrawn="1">
          <p15:clr>
            <a:srgbClr val="A4A3A4"/>
          </p15:clr>
        </p15:guide>
        <p15:guide id="7" pos="11608" userDrawn="1">
          <p15:clr>
            <a:srgbClr val="A4A3A4"/>
          </p15:clr>
        </p15:guide>
        <p15:guide id="8" pos="11992" userDrawn="1">
          <p15:clr>
            <a:srgbClr val="A4A3A4"/>
          </p15:clr>
        </p15:guide>
        <p15:guide id="9" pos="17368" userDrawn="1">
          <p15:clr>
            <a:srgbClr val="A4A3A4"/>
          </p15:clr>
        </p15:guide>
        <p15:guide id="10" pos="17752" userDrawn="1">
          <p15:clr>
            <a:srgbClr val="A4A3A4"/>
          </p15:clr>
        </p15:guide>
        <p15:guide id="11" orient="horz" pos="12684" userDrawn="1">
          <p15:clr>
            <a:srgbClr val="A4A3A4"/>
          </p15:clr>
        </p15:guide>
        <p15:guide id="12" orient="horz" pos="36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634"/>
    <p:restoredTop sz="94655"/>
  </p:normalViewPr>
  <p:slideViewPr>
    <p:cSldViewPr snapToGrid="0" snapToObjects="1">
      <p:cViewPr varScale="1">
        <p:scale>
          <a:sx n="28" d="100"/>
          <a:sy n="28" d="100"/>
        </p:scale>
        <p:origin x="567" y="51"/>
      </p:cViewPr>
      <p:guideLst>
        <p:guide orient="horz" pos="3132"/>
        <p:guide orient="horz" pos="3396"/>
        <p:guide pos="23056"/>
        <p:guide pos="520"/>
        <p:guide pos="5848"/>
        <p:guide pos="6232"/>
        <p:guide pos="11608"/>
        <p:guide pos="11992"/>
        <p:guide pos="17368"/>
        <p:guide pos="17752"/>
        <p:guide orient="horz" pos="12684"/>
        <p:guide orient="horz" pos="36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64" d="100"/>
          <a:sy n="64" d="100"/>
        </p:scale>
        <p:origin x="2832" y="63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handoutMaster" Target="handoutMasters/handout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200" b="1">
                <a:solidFill>
                  <a:srgbClr val="0E2841"/>
                </a:solidFill>
              </a:rPr>
              <a:t>AUC-ROC en test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AUC-ROC</c:v>
                </c:pt>
              </c:strCache>
            </c:strRef>
          </c:tx>
          <c:spPr>
            <a:solidFill>
              <a:srgbClr val="CFD8E6"/>
            </a:solidFill>
          </c:spPr>
          <c:dPt>
            <c:idx val="7"/>
            <c:spPr>
              <a:solidFill>
                <a:srgbClr val="2B5C8F"/>
              </a:solidFill>
            </c:spPr>
          </c:dPt>
          <c:cat>
            <c:strRef>
              <c:f>Sheet1!$A$2:$A$9</c:f>
              <c:strCache>
                <c:ptCount val="8"/>
                <c:pt idx="0">
                  <c:v>Naive Bayes</c:v>
                </c:pt>
                <c:pt idx="1">
                  <c:v>Decision Tree</c:v>
                </c:pt>
                <c:pt idx="2">
                  <c:v>SVM</c:v>
                </c:pt>
                <c:pt idx="3">
                  <c:v>KNN</c:v>
                </c:pt>
                <c:pt idx="4">
                  <c:v>Logistic Regression</c:v>
                </c:pt>
                <c:pt idx="5">
                  <c:v>Random Forest (Optuna)</c:v>
                </c:pt>
                <c:pt idx="6">
                  <c:v>Random Forest (grid search)</c:v>
                </c:pt>
                <c:pt idx="7">
                  <c:v>Neural Network (Optuna)</c:v>
                </c:pt>
              </c:strCache>
            </c:strRef>
          </c:cat>
          <c:val>
            <c:numRef>
              <c:f>Sheet1!$B$2:$B$9</c:f>
              <c:numCache>
                <c:formatCode>0.000</c:formatCode>
                <c:ptCount val="8"/>
                <c:pt idx="0">
                  <c:v>0.81</c:v>
                </c:pt>
                <c:pt idx="1">
                  <c:v>0.881</c:v>
                </c:pt>
                <c:pt idx="2">
                  <c:v>0.882</c:v>
                </c:pt>
                <c:pt idx="3">
                  <c:v>0.891</c:v>
                </c:pt>
                <c:pt idx="4">
                  <c:v>0.898</c:v>
                </c:pt>
                <c:pt idx="5">
                  <c:v>0.901</c:v>
                </c:pt>
                <c:pt idx="6">
                  <c:v>0.901</c:v>
                </c:pt>
                <c:pt idx="7">
                  <c:v>0.904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1900" b="1">
                  <a:solidFill>
                    <a:srgbClr val="40404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5"/>
        </c:scaling>
        <c:delete val="0"/>
        <c:axPos val="b"/>
        <c:majorGridlines>
          <c:spPr>
            <a:ln>
              <a:solidFill>
                <a:srgbClr val="E3E3E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600" b="0">
                    <a:solidFill>
                      <a:srgbClr val="808080"/>
                    </a:solidFill>
                  </a:rPr>
                  <a:t>AUC-ROC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600">
                <a:solidFill>
                  <a:srgbClr val="808080"/>
                </a:solidFill>
              </a:defRPr>
            </a:pPr>
          </a:p>
        </c:txPr>
        <c:crossAx val="-2068027336"/>
        <c:crosses val="autoZero"/>
        <c:majorUnit val="0.1"/>
      </c:valAx>
    </c:plotArea>
    <c:dispBlanksAs val="gap"/>
  </c:chart>
  <c:spPr>
    <a:noFill/>
    <a:ln>
      <a:noFill/>
    </a:ln>
  </c:spPr>
  <c:txPr>
    <a:bodyPr/>
    <a:lstStyle/>
    <a:p>
      <a:pPr>
        <a:defRPr sz="1900">
          <a:solidFill>
            <a:srgbClr val="404040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Peor configuración</c:v>
                </c:pt>
              </c:strCache>
            </c:strRef>
          </c:tx>
          <c:spPr>
            <a:solidFill>
              <a:srgbClr val="CFD8E6"/>
            </a:solidFill>
          </c:spPr>
          <c:dLbls>
            <c:numFmt formatCode="0.000" sourceLinked="0"/>
            <c:txPr>
              <a:bodyPr/>
              <a:lstStyle/>
              <a:p>
                <a:pPr>
                  <a:defRPr sz="1300" b="1">
                    <a:solidFill>
                      <a:srgbClr val="404040"/>
                    </a:solidFill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Random Forest (grid search)</c:v>
                </c:pt>
                <c:pt idx="1">
                  <c:v>Random Forest (Optuna)</c:v>
                </c:pt>
                <c:pt idx="2">
                  <c:v>KNN</c:v>
                </c:pt>
                <c:pt idx="3">
                  <c:v>SVM</c:v>
                </c:pt>
                <c:pt idx="4">
                  <c:v>Decision Tree</c:v>
                </c:pt>
                <c:pt idx="5">
                  <c:v>Neural Network (Optuna)</c:v>
                </c:pt>
              </c:strCache>
            </c:strRef>
          </c:cat>
          <c:val>
            <c:numRef>
              <c:f>Sheet1!$B$2:$B$7</c:f>
              <c:numCache>
                <c:formatCode>0.000</c:formatCode>
                <c:ptCount val="6"/>
                <c:pt idx="0">
                  <c:v>0.898</c:v>
                </c:pt>
                <c:pt idx="1">
                  <c:v>0.898</c:v>
                </c:pt>
                <c:pt idx="2">
                  <c:v>0.868</c:v>
                </c:pt>
                <c:pt idx="3">
                  <c:v>0.85</c:v>
                </c:pt>
                <c:pt idx="4">
                  <c:v>0.837</c:v>
                </c:pt>
                <c:pt idx="5">
                  <c:v>0.844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Mejor configuración</c:v>
                </c:pt>
              </c:strCache>
            </c:strRef>
          </c:tx>
          <c:spPr>
            <a:solidFill>
              <a:srgbClr val="2B5C8F"/>
            </a:solidFill>
          </c:spPr>
          <c:dLbls>
            <c:numFmt formatCode="0.000" sourceLinked="0"/>
            <c:txPr>
              <a:bodyPr/>
              <a:lstStyle/>
              <a:p>
                <a:pPr>
                  <a:defRPr sz="1300" b="1">
                    <a:solidFill>
                      <a:srgbClr val="0E2841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Random Forest (grid search)</c:v>
                </c:pt>
                <c:pt idx="1">
                  <c:v>Random Forest (Optuna)</c:v>
                </c:pt>
                <c:pt idx="2">
                  <c:v>KNN</c:v>
                </c:pt>
                <c:pt idx="3">
                  <c:v>SVM</c:v>
                </c:pt>
                <c:pt idx="4">
                  <c:v>Decision Tree</c:v>
                </c:pt>
                <c:pt idx="5">
                  <c:v>Neural Network (Optuna)</c:v>
                </c:pt>
              </c:strCache>
            </c:strRef>
          </c:cat>
          <c:val>
            <c:numRef>
              <c:f>Sheet1!$C$2:$C$7</c:f>
              <c:numCache>
                <c:formatCode>0.000</c:formatCode>
                <c:ptCount val="6"/>
                <c:pt idx="0">
                  <c:v>0.908</c:v>
                </c:pt>
                <c:pt idx="1">
                  <c:v>0.908</c:v>
                </c:pt>
                <c:pt idx="2">
                  <c:v>0.897</c:v>
                </c:pt>
                <c:pt idx="3">
                  <c:v>0.894</c:v>
                </c:pt>
                <c:pt idx="4">
                  <c:v>0.885</c:v>
                </c:pt>
                <c:pt idx="5">
                  <c:v>0.908</c:v>
                </c:pt>
              </c:numCache>
            </c:numRef>
          </c:val>
        </c:ser>
        <c:gapWidth val="3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6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5"/>
        </c:scaling>
        <c:delete val="0"/>
        <c:axPos val="b"/>
        <c:majorGridlines>
          <c:spPr>
            <a:ln>
              <a:solidFill>
                <a:srgbClr val="E3E3E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500" b="0">
                    <a:solidFill>
                      <a:srgbClr val="808080"/>
                    </a:solidFill>
                  </a:rPr>
                  <a:t>AUC-ROC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400">
                <a:solidFill>
                  <a:srgbClr val="808080"/>
                </a:solidFill>
              </a:defRPr>
            </a:pPr>
          </a:p>
        </c:txPr>
        <c:crossAx val="-2068027336"/>
        <c:crosses val="autoZero"/>
        <c:majorUnit val="0.1"/>
      </c:valAx>
    </c:plotArea>
    <c:legend>
      <c:legendPos val="t"/>
      <c:overlay val="0"/>
      <c:txPr>
        <a:bodyPr/>
        <a:lstStyle/>
        <a:p>
          <a:pPr>
            <a:defRPr sz="1600"/>
          </a:pPr>
        </a:p>
      </c:txPr>
    </c:legend>
    <c:dispBlanksAs val="gap"/>
  </c:chart>
  <c:txPr>
    <a:bodyPr/>
    <a:lstStyle/>
    <a:p>
      <a:pPr>
        <a:defRPr sz="1600">
          <a:solidFill>
            <a:srgbClr val="404040"/>
          </a:solidFill>
          <a:latin typeface="Arial"/>
        </a:defRPr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836533-E22B-2B4C-B5E8-F902600A42DB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BDD426-1ACA-1E4C-AE87-A547C473B7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2786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386D7A-222B-BC4E-982C-46748DC477C8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0EF6E-EB4E-C743-B793-CD7D10150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1806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Íconos: Font Awesome Free 6.5.2 (fontawesome.com), licencia CC BY 4.0.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F0EF6E-EB4E-C743-B793-CD7D10150F8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1972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9"/>
          <p:cNvCxnSpPr>
            <a:cxnSpLocks noChangeShapeType="1"/>
          </p:cNvCxnSpPr>
          <p:nvPr userDrawn="1"/>
        </p:nvCxnSpPr>
        <p:spPr bwMode="auto">
          <a:xfrm>
            <a:off x="9651761" y="5500608"/>
            <a:ext cx="780488" cy="585214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cxnSp>
      <p:cxnSp>
        <p:nvCxnSpPr>
          <p:cNvPr id="11" name="Straight Connector 10"/>
          <p:cNvCxnSpPr/>
          <p:nvPr userDrawn="1"/>
        </p:nvCxnSpPr>
        <p:spPr bwMode="auto">
          <a:xfrm>
            <a:off x="27837479" y="4396930"/>
            <a:ext cx="0" cy="14255496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dash"/>
            <a:round/>
            <a:headEnd type="oval" w="med" len="med"/>
            <a:tailEnd type="oval" w="med" len="med"/>
          </a:ln>
          <a:effectLst/>
        </p:spPr>
      </p:cxnSp>
      <p:sp>
        <p:nvSpPr>
          <p:cNvPr id="12" name="Content Placeholder 9"/>
          <p:cNvSpPr>
            <a:spLocks noGrp="1"/>
          </p:cNvSpPr>
          <p:nvPr>
            <p:ph sz="quarter" idx="10"/>
          </p:nvPr>
        </p:nvSpPr>
        <p:spPr>
          <a:xfrm>
            <a:off x="780489" y="4728266"/>
            <a:ext cx="8058712" cy="8449539"/>
          </a:xfrm>
          <a:prstGeom prst="rect">
            <a:avLst/>
          </a:prstGeom>
        </p:spPr>
        <p:txBody>
          <a:bodyPr/>
          <a:lstStyle>
            <a:lvl1pPr>
              <a:lnSpc>
                <a:spcPts val="4600"/>
              </a:lnSpc>
              <a:spcBef>
                <a:spcPts val="0"/>
              </a:spcBef>
              <a:defRPr sz="2800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1pPr>
            <a:lvl2pPr>
              <a:lnSpc>
                <a:spcPts val="4600"/>
              </a:lnSpc>
              <a:spcBef>
                <a:spcPts val="0"/>
              </a:spcBef>
              <a:defRPr sz="2800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2pPr>
            <a:lvl3pPr>
              <a:lnSpc>
                <a:spcPts val="4600"/>
              </a:lnSpc>
              <a:spcBef>
                <a:spcPts val="0"/>
              </a:spcBef>
              <a:defRPr sz="2800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3pPr>
            <a:lvl4pPr>
              <a:lnSpc>
                <a:spcPts val="4600"/>
              </a:lnSpc>
              <a:spcBef>
                <a:spcPts val="0"/>
              </a:spcBef>
              <a:defRPr sz="2800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4pPr>
            <a:lvl5pPr marL="2286000" indent="-457200">
              <a:lnSpc>
                <a:spcPts val="4600"/>
              </a:lnSpc>
              <a:spcBef>
                <a:spcPts val="0"/>
              </a:spcBef>
              <a:buClr>
                <a:srgbClr val="245EAC"/>
              </a:buClr>
              <a:buFont typeface="Arial" charset="0"/>
              <a:buChar char="•"/>
              <a:defRPr sz="2800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780488" y="13627361"/>
            <a:ext cx="8086421" cy="4769496"/>
          </a:xfrm>
          <a:prstGeom prst="rect">
            <a:avLst/>
          </a:prstGeom>
          <a:solidFill>
            <a:schemeClr val="bg2">
              <a:lumMod val="85000"/>
            </a:schemeClr>
          </a:solidFill>
        </p:spPr>
        <p:txBody>
          <a:bodyPr/>
          <a:lstStyle>
            <a:lvl1pPr marL="0" indent="0" algn="ctr">
              <a:buNone/>
              <a:defRPr sz="1800" b="1" i="0"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sz="quarter" idx="17"/>
          </p:nvPr>
        </p:nvSpPr>
        <p:spPr>
          <a:xfrm>
            <a:off x="28333331" y="10016713"/>
            <a:ext cx="8363143" cy="4769496"/>
          </a:xfrm>
          <a:prstGeom prst="rect">
            <a:avLst/>
          </a:prstGeom>
          <a:solidFill>
            <a:schemeClr val="bg2">
              <a:lumMod val="85000"/>
            </a:schemeClr>
          </a:solidFill>
        </p:spPr>
        <p:txBody>
          <a:bodyPr/>
          <a:lstStyle>
            <a:lvl1pPr marL="0" indent="0" algn="ctr">
              <a:buNone/>
              <a:defRPr sz="1800" b="1" i="0"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indent="0" algn="ctr">
              <a:buNone/>
            </a:pPr>
            <a:endParaRPr lang="en-US" dirty="0"/>
          </a:p>
        </p:txBody>
      </p:sp>
      <p:sp>
        <p:nvSpPr>
          <p:cNvPr id="15" name="Content Placeholder 9"/>
          <p:cNvSpPr>
            <a:spLocks noGrp="1"/>
          </p:cNvSpPr>
          <p:nvPr>
            <p:ph sz="quarter" idx="18"/>
          </p:nvPr>
        </p:nvSpPr>
        <p:spPr>
          <a:xfrm>
            <a:off x="9670473" y="4728265"/>
            <a:ext cx="8478981" cy="13654586"/>
          </a:xfrm>
          <a:prstGeom prst="rect">
            <a:avLst/>
          </a:prstGeom>
        </p:spPr>
        <p:txBody>
          <a:bodyPr/>
          <a:lstStyle>
            <a:lvl1pPr>
              <a:lnSpc>
                <a:spcPts val="4600"/>
              </a:lnSpc>
              <a:spcBef>
                <a:spcPts val="0"/>
              </a:spcBef>
              <a:defRPr sz="2800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1pPr>
            <a:lvl2pPr>
              <a:lnSpc>
                <a:spcPts val="4600"/>
              </a:lnSpc>
              <a:spcBef>
                <a:spcPts val="0"/>
              </a:spcBef>
              <a:defRPr sz="2800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2pPr>
            <a:lvl3pPr>
              <a:lnSpc>
                <a:spcPts val="4600"/>
              </a:lnSpc>
              <a:spcBef>
                <a:spcPts val="0"/>
              </a:spcBef>
              <a:defRPr sz="2800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3pPr>
            <a:lvl4pPr>
              <a:lnSpc>
                <a:spcPts val="4600"/>
              </a:lnSpc>
              <a:spcBef>
                <a:spcPts val="0"/>
              </a:spcBef>
              <a:defRPr sz="2800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4pPr>
            <a:lvl5pPr marL="2286000" indent="-457200">
              <a:lnSpc>
                <a:spcPts val="4600"/>
              </a:lnSpc>
              <a:spcBef>
                <a:spcPts val="0"/>
              </a:spcBef>
              <a:buClr>
                <a:srgbClr val="245EAC"/>
              </a:buClr>
              <a:buFont typeface="Arial" charset="0"/>
              <a:buChar char="•"/>
              <a:defRPr sz="2800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Content Placeholder 9"/>
          <p:cNvSpPr>
            <a:spLocks noGrp="1"/>
          </p:cNvSpPr>
          <p:nvPr>
            <p:ph sz="quarter" idx="19"/>
          </p:nvPr>
        </p:nvSpPr>
        <p:spPr>
          <a:xfrm>
            <a:off x="18953018" y="4730482"/>
            <a:ext cx="8451273" cy="4464475"/>
          </a:xfrm>
          <a:prstGeom prst="rect">
            <a:avLst/>
          </a:prstGeom>
        </p:spPr>
        <p:txBody>
          <a:bodyPr/>
          <a:lstStyle>
            <a:lvl1pPr>
              <a:lnSpc>
                <a:spcPts val="4600"/>
              </a:lnSpc>
              <a:spcBef>
                <a:spcPts val="0"/>
              </a:spcBef>
              <a:defRPr sz="2800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1pPr>
            <a:lvl2pPr>
              <a:lnSpc>
                <a:spcPts val="4600"/>
              </a:lnSpc>
              <a:spcBef>
                <a:spcPts val="0"/>
              </a:spcBef>
              <a:defRPr sz="2800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2pPr>
            <a:lvl3pPr>
              <a:lnSpc>
                <a:spcPts val="4600"/>
              </a:lnSpc>
              <a:spcBef>
                <a:spcPts val="0"/>
              </a:spcBef>
              <a:defRPr sz="2800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3pPr>
            <a:lvl4pPr>
              <a:lnSpc>
                <a:spcPts val="4600"/>
              </a:lnSpc>
              <a:spcBef>
                <a:spcPts val="0"/>
              </a:spcBef>
              <a:defRPr sz="2800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4pPr>
            <a:lvl5pPr marL="2286000" indent="-457200">
              <a:lnSpc>
                <a:spcPts val="4600"/>
              </a:lnSpc>
              <a:spcBef>
                <a:spcPts val="0"/>
              </a:spcBef>
              <a:buClr>
                <a:srgbClr val="245EAC"/>
              </a:buClr>
              <a:buFont typeface="Arial" charset="0"/>
              <a:buChar char="•"/>
              <a:defRPr sz="2800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Content Placeholder 9"/>
          <p:cNvSpPr>
            <a:spLocks noGrp="1"/>
          </p:cNvSpPr>
          <p:nvPr>
            <p:ph sz="quarter" idx="20"/>
          </p:nvPr>
        </p:nvSpPr>
        <p:spPr>
          <a:xfrm>
            <a:off x="28314050" y="4728267"/>
            <a:ext cx="8363143" cy="4914497"/>
          </a:xfrm>
          <a:prstGeom prst="rect">
            <a:avLst/>
          </a:prstGeom>
        </p:spPr>
        <p:txBody>
          <a:bodyPr/>
          <a:lstStyle>
            <a:lvl1pPr>
              <a:lnSpc>
                <a:spcPts val="4600"/>
              </a:lnSpc>
              <a:spcBef>
                <a:spcPts val="0"/>
              </a:spcBef>
              <a:defRPr sz="2800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1pPr>
            <a:lvl2pPr>
              <a:lnSpc>
                <a:spcPts val="4600"/>
              </a:lnSpc>
              <a:spcBef>
                <a:spcPts val="0"/>
              </a:spcBef>
              <a:defRPr sz="2800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2pPr>
            <a:lvl3pPr>
              <a:lnSpc>
                <a:spcPts val="4600"/>
              </a:lnSpc>
              <a:spcBef>
                <a:spcPts val="0"/>
              </a:spcBef>
              <a:defRPr sz="2800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3pPr>
            <a:lvl4pPr>
              <a:lnSpc>
                <a:spcPts val="4600"/>
              </a:lnSpc>
              <a:spcBef>
                <a:spcPts val="0"/>
              </a:spcBef>
              <a:defRPr sz="2800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4pPr>
            <a:lvl5pPr marL="2286000" indent="-457200">
              <a:lnSpc>
                <a:spcPts val="4600"/>
              </a:lnSpc>
              <a:spcBef>
                <a:spcPts val="0"/>
              </a:spcBef>
              <a:buClr>
                <a:srgbClr val="245EAC"/>
              </a:buClr>
              <a:buFont typeface="Arial" charset="0"/>
              <a:buChar char="•"/>
              <a:defRPr sz="2800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9"/>
          <p:cNvSpPr>
            <a:spLocks noGrp="1"/>
          </p:cNvSpPr>
          <p:nvPr>
            <p:ph sz="quarter" idx="21"/>
          </p:nvPr>
        </p:nvSpPr>
        <p:spPr>
          <a:xfrm>
            <a:off x="28340791" y="15186116"/>
            <a:ext cx="8363143" cy="2977194"/>
          </a:xfrm>
          <a:prstGeom prst="rect">
            <a:avLst/>
          </a:prstGeom>
        </p:spPr>
        <p:txBody>
          <a:bodyPr/>
          <a:lstStyle>
            <a:lvl1pPr>
              <a:lnSpc>
                <a:spcPts val="4600"/>
              </a:lnSpc>
              <a:spcBef>
                <a:spcPts val="0"/>
              </a:spcBef>
              <a:defRPr sz="2800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1pPr>
            <a:lvl2pPr>
              <a:lnSpc>
                <a:spcPts val="4600"/>
              </a:lnSpc>
              <a:spcBef>
                <a:spcPts val="0"/>
              </a:spcBef>
              <a:defRPr sz="2800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2pPr>
            <a:lvl3pPr>
              <a:lnSpc>
                <a:spcPts val="4600"/>
              </a:lnSpc>
              <a:spcBef>
                <a:spcPts val="0"/>
              </a:spcBef>
              <a:defRPr sz="2800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3pPr>
            <a:lvl4pPr>
              <a:lnSpc>
                <a:spcPts val="4600"/>
              </a:lnSpc>
              <a:spcBef>
                <a:spcPts val="0"/>
              </a:spcBef>
              <a:defRPr sz="2800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4pPr>
            <a:lvl5pPr marL="2286000" indent="-457200">
              <a:lnSpc>
                <a:spcPts val="4600"/>
              </a:lnSpc>
              <a:spcBef>
                <a:spcPts val="0"/>
              </a:spcBef>
              <a:buClr>
                <a:srgbClr val="245EAC"/>
              </a:buClr>
              <a:buFont typeface="Arial" charset="0"/>
              <a:buChar char="•"/>
              <a:defRPr sz="2800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Chart Placeholder 23"/>
          <p:cNvSpPr>
            <a:spLocks noGrp="1"/>
          </p:cNvSpPr>
          <p:nvPr>
            <p:ph type="chart" sz="quarter" idx="22"/>
          </p:nvPr>
        </p:nvSpPr>
        <p:spPr>
          <a:xfrm>
            <a:off x="19008436" y="9601401"/>
            <a:ext cx="8451273" cy="371921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</a:lstStyle>
          <a:p>
            <a:endParaRPr lang="en-US" dirty="0"/>
          </a:p>
        </p:txBody>
      </p:sp>
      <p:sp>
        <p:nvSpPr>
          <p:cNvPr id="20" name="Content Placeholder 9"/>
          <p:cNvSpPr>
            <a:spLocks noGrp="1"/>
          </p:cNvSpPr>
          <p:nvPr>
            <p:ph sz="quarter" idx="23"/>
          </p:nvPr>
        </p:nvSpPr>
        <p:spPr>
          <a:xfrm>
            <a:off x="18980727" y="13837496"/>
            <a:ext cx="8423564" cy="4466492"/>
          </a:xfrm>
          <a:prstGeom prst="rect">
            <a:avLst/>
          </a:prstGeom>
        </p:spPr>
        <p:txBody>
          <a:bodyPr/>
          <a:lstStyle>
            <a:lvl1pPr>
              <a:lnSpc>
                <a:spcPts val="4600"/>
              </a:lnSpc>
              <a:spcBef>
                <a:spcPts val="0"/>
              </a:spcBef>
              <a:defRPr sz="2800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1pPr>
            <a:lvl2pPr>
              <a:lnSpc>
                <a:spcPts val="4600"/>
              </a:lnSpc>
              <a:spcBef>
                <a:spcPts val="0"/>
              </a:spcBef>
              <a:defRPr sz="2800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2pPr>
            <a:lvl3pPr>
              <a:lnSpc>
                <a:spcPts val="4600"/>
              </a:lnSpc>
              <a:spcBef>
                <a:spcPts val="0"/>
              </a:spcBef>
              <a:defRPr sz="2800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3pPr>
            <a:lvl4pPr>
              <a:lnSpc>
                <a:spcPts val="4600"/>
              </a:lnSpc>
              <a:spcBef>
                <a:spcPts val="0"/>
              </a:spcBef>
              <a:defRPr sz="2800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4pPr>
            <a:lvl5pPr marL="2286000" indent="-457200">
              <a:lnSpc>
                <a:spcPts val="4600"/>
              </a:lnSpc>
              <a:spcBef>
                <a:spcPts val="0"/>
              </a:spcBef>
              <a:buClr>
                <a:srgbClr val="245EAC"/>
              </a:buClr>
              <a:buFont typeface="Arial" charset="0"/>
              <a:buChar char="•"/>
              <a:defRPr sz="2800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1" name="Straight Connector 20"/>
          <p:cNvCxnSpPr/>
          <p:nvPr userDrawn="1"/>
        </p:nvCxnSpPr>
        <p:spPr bwMode="auto">
          <a:xfrm>
            <a:off x="18566246" y="4396930"/>
            <a:ext cx="54263" cy="14255496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dash"/>
            <a:round/>
            <a:headEnd type="oval" w="med" len="med"/>
            <a:tailEnd type="oval" w="med" len="med"/>
          </a:ln>
          <a:effectLst/>
        </p:spPr>
      </p:cxnSp>
      <p:cxnSp>
        <p:nvCxnSpPr>
          <p:cNvPr id="26" name="Straight Connector 25"/>
          <p:cNvCxnSpPr/>
          <p:nvPr userDrawn="1"/>
        </p:nvCxnSpPr>
        <p:spPr bwMode="auto">
          <a:xfrm>
            <a:off x="9271651" y="4396930"/>
            <a:ext cx="0" cy="14251288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dash"/>
            <a:round/>
            <a:headEnd type="oval" w="med" len="med"/>
            <a:tailEnd type="oval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7481772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6"/>
          <p:cNvSpPr>
            <a:spLocks noChangeArrowheads="1"/>
          </p:cNvSpPr>
          <p:nvPr userDrawn="1"/>
        </p:nvSpPr>
        <p:spPr bwMode="auto">
          <a:xfrm>
            <a:off x="0" y="-29964"/>
            <a:ext cx="34098807" cy="3512576"/>
          </a:xfrm>
          <a:prstGeom prst="rect">
            <a:avLst/>
          </a:prstGeom>
          <a:solidFill>
            <a:srgbClr val="002060"/>
          </a:solidFill>
          <a:ln w="9525">
            <a:solidFill>
              <a:srgbClr val="002060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 eaLnBrk="0" hangingPunct="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1pPr>
            <a:lvl2pPr marL="37931725" indent="-37474525" eaLnBrk="0" hangingPunct="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2pPr>
            <a:lvl3pPr eaLnBrk="0" hangingPunct="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3pPr>
            <a:lvl4pPr eaLnBrk="0" hangingPunct="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4pPr>
            <a:lvl5pPr eaLnBrk="0" hangingPunct="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9pPr>
          </a:lstStyle>
          <a:p>
            <a:pPr eaLnBrk="1" hangingPunct="1">
              <a:defRPr/>
            </a:pPr>
            <a:endParaRPr lang="en-US" altLang="en-US" b="0" i="0" baseline="0" dirty="0">
              <a:solidFill>
                <a:schemeClr val="tx1"/>
              </a:solidFill>
              <a:latin typeface="Arial" charset="0"/>
              <a:ea typeface="Arial" charset="0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-1" y="3478193"/>
            <a:ext cx="37463413" cy="1809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658" y="19690451"/>
            <a:ext cx="10725451" cy="795436"/>
          </a:xfrm>
          <a:prstGeom prst="rect">
            <a:avLst/>
          </a:prstGeom>
        </p:spPr>
      </p:pic>
      <p:cxnSp>
        <p:nvCxnSpPr>
          <p:cNvPr id="14" name="Straight Connector 13"/>
          <p:cNvCxnSpPr/>
          <p:nvPr userDrawn="1"/>
        </p:nvCxnSpPr>
        <p:spPr>
          <a:xfrm>
            <a:off x="28194626" y="19527805"/>
            <a:ext cx="0" cy="1063256"/>
          </a:xfrm>
          <a:prstGeom prst="line">
            <a:avLst/>
          </a:prstGeom>
          <a:ln w="2540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C2F7D664-F077-4B7E-BD60-C8EF11A779D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4098807" y="-55694"/>
            <a:ext cx="3364606" cy="3526367"/>
          </a:xfrm>
          <a:prstGeom prst="rect">
            <a:avLst/>
          </a:prstGeom>
        </p:spPr>
      </p:pic>
      <p:sp>
        <p:nvSpPr>
          <p:cNvPr id="9" name="Rectangle 36">
            <a:extLst>
              <a:ext uri="{FF2B5EF4-FFF2-40B4-BE49-F238E27FC236}">
                <a16:creationId xmlns:a16="http://schemas.microsoft.com/office/drawing/2014/main" id="{51021623-D1FE-F5A6-5DB3-F11B3CF4986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16626" y="18853265"/>
            <a:ext cx="37463414" cy="2214448"/>
          </a:xfrm>
          <a:prstGeom prst="rect">
            <a:avLst/>
          </a:prstGeom>
          <a:solidFill>
            <a:srgbClr val="002060"/>
          </a:solidFill>
          <a:ln w="9525">
            <a:solidFill>
              <a:srgbClr val="002060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 eaLnBrk="0" hangingPunct="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1pPr>
            <a:lvl2pPr marL="37931725" indent="-37474525" eaLnBrk="0" hangingPunct="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2pPr>
            <a:lvl3pPr eaLnBrk="0" hangingPunct="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3pPr>
            <a:lvl4pPr eaLnBrk="0" hangingPunct="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4pPr>
            <a:lvl5pPr eaLnBrk="0" hangingPunct="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9pPr>
          </a:lstStyle>
          <a:p>
            <a:pPr eaLnBrk="1" hangingPunct="1">
              <a:defRPr/>
            </a:pPr>
            <a:endParaRPr lang="en-US" altLang="en-US" b="0" i="0" baseline="0" dirty="0">
              <a:solidFill>
                <a:schemeClr val="bg1"/>
              </a:solidFill>
              <a:latin typeface="Arial" charset="0"/>
              <a:ea typeface="Arial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5B4384-E0E1-7693-62DD-77D3CC419304}"/>
              </a:ext>
            </a:extLst>
          </p:cNvPr>
          <p:cNvSpPr txBox="1"/>
          <p:nvPr userDrawn="1"/>
        </p:nvSpPr>
        <p:spPr>
          <a:xfrm>
            <a:off x="166256" y="19397713"/>
            <a:ext cx="1373164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4000" noProof="0" dirty="0">
                <a:solidFill>
                  <a:schemeClr val="bg1"/>
                </a:solidFill>
              </a:rPr>
              <a:t>Departamento de Ciencias de la Computación y la Decisión</a:t>
            </a:r>
          </a:p>
          <a:p>
            <a:r>
              <a:rPr lang="es-CO" sz="4000" noProof="0" dirty="0">
                <a:solidFill>
                  <a:schemeClr val="bg1"/>
                </a:solidFill>
              </a:rPr>
              <a:t>Facultad de Minas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7DD991B-3F96-6724-368F-89A63B5E0D0E}"/>
              </a:ext>
            </a:extLst>
          </p:cNvPr>
          <p:cNvSpPr txBox="1"/>
          <p:nvPr userDrawn="1"/>
        </p:nvSpPr>
        <p:spPr>
          <a:xfrm>
            <a:off x="28883900" y="19298769"/>
            <a:ext cx="822590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s-CO" sz="4000" noProof="0" dirty="0">
                <a:solidFill>
                  <a:schemeClr val="bg1"/>
                </a:solidFill>
              </a:rPr>
              <a:t>Optimización e Inteligencia Artificial</a:t>
            </a:r>
          </a:p>
          <a:p>
            <a:pPr algn="r"/>
            <a:r>
              <a:rPr lang="es-CO" sz="4000" noProof="0" dirty="0">
                <a:solidFill>
                  <a:schemeClr val="bg1"/>
                </a:solidFill>
              </a:rPr>
              <a:t>2026-II</a:t>
            </a:r>
          </a:p>
        </p:txBody>
      </p:sp>
    </p:spTree>
    <p:extLst>
      <p:ext uri="{BB962C8B-B14F-4D97-AF65-F5344CB8AC3E}">
        <p14:creationId xmlns:p14="http://schemas.microsoft.com/office/powerpoint/2010/main" val="25851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</p:sldLayoutIdLst>
  <p:txStyles>
    <p:titleStyle>
      <a:lvl1pPr algn="l" defTabSz="2809037" rtl="0" eaLnBrk="1" latinLnBrk="0" hangingPunct="1">
        <a:lnSpc>
          <a:spcPct val="90000"/>
        </a:lnSpc>
        <a:spcBef>
          <a:spcPct val="0"/>
        </a:spcBef>
        <a:buNone/>
        <a:defRPr sz="1351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02259" indent="-702259" algn="l" defTabSz="2809037" rtl="0" eaLnBrk="1" latinLnBrk="0" hangingPunct="1">
        <a:lnSpc>
          <a:spcPct val="90000"/>
        </a:lnSpc>
        <a:spcBef>
          <a:spcPts val="3072"/>
        </a:spcBef>
        <a:buFont typeface="Arial" panose="020B0604020202020204" pitchFamily="34" charset="0"/>
        <a:buChar char="•"/>
        <a:defRPr sz="8602" kern="1200">
          <a:solidFill>
            <a:schemeClr val="tx1"/>
          </a:solidFill>
          <a:latin typeface="+mn-lt"/>
          <a:ea typeface="+mn-ea"/>
          <a:cs typeface="+mn-cs"/>
        </a:defRPr>
      </a:lvl1pPr>
      <a:lvl2pPr marL="2106778" indent="-702259" algn="l" defTabSz="2809037" rtl="0" eaLnBrk="1" latinLnBrk="0" hangingPunct="1">
        <a:lnSpc>
          <a:spcPct val="90000"/>
        </a:lnSpc>
        <a:spcBef>
          <a:spcPts val="1536"/>
        </a:spcBef>
        <a:buFont typeface="Arial" panose="020B0604020202020204" pitchFamily="34" charset="0"/>
        <a:buChar char="•"/>
        <a:defRPr sz="7373" kern="1200">
          <a:solidFill>
            <a:schemeClr val="tx1"/>
          </a:solidFill>
          <a:latin typeface="+mn-lt"/>
          <a:ea typeface="+mn-ea"/>
          <a:cs typeface="+mn-cs"/>
        </a:defRPr>
      </a:lvl2pPr>
      <a:lvl3pPr marL="3511296" indent="-702259" algn="l" defTabSz="2809037" rtl="0" eaLnBrk="1" latinLnBrk="0" hangingPunct="1">
        <a:lnSpc>
          <a:spcPct val="90000"/>
        </a:lnSpc>
        <a:spcBef>
          <a:spcPts val="1536"/>
        </a:spcBef>
        <a:buFont typeface="Arial" panose="020B0604020202020204" pitchFamily="34" charset="0"/>
        <a:buChar char="•"/>
        <a:defRPr sz="6144" kern="1200">
          <a:solidFill>
            <a:schemeClr val="tx1"/>
          </a:solidFill>
          <a:latin typeface="+mn-lt"/>
          <a:ea typeface="+mn-ea"/>
          <a:cs typeface="+mn-cs"/>
        </a:defRPr>
      </a:lvl3pPr>
      <a:lvl4pPr marL="4915814" indent="-702259" algn="l" defTabSz="2809037" rtl="0" eaLnBrk="1" latinLnBrk="0" hangingPunct="1">
        <a:lnSpc>
          <a:spcPct val="90000"/>
        </a:lnSpc>
        <a:spcBef>
          <a:spcPts val="1536"/>
        </a:spcBef>
        <a:buFont typeface="Arial" panose="020B0604020202020204" pitchFamily="34" charset="0"/>
        <a:buChar char="•"/>
        <a:defRPr sz="5530" kern="1200">
          <a:solidFill>
            <a:schemeClr val="tx1"/>
          </a:solidFill>
          <a:latin typeface="+mn-lt"/>
          <a:ea typeface="+mn-ea"/>
          <a:cs typeface="+mn-cs"/>
        </a:defRPr>
      </a:lvl4pPr>
      <a:lvl5pPr marL="6320333" indent="-702259" algn="l" defTabSz="2809037" rtl="0" eaLnBrk="1" latinLnBrk="0" hangingPunct="1">
        <a:lnSpc>
          <a:spcPct val="90000"/>
        </a:lnSpc>
        <a:spcBef>
          <a:spcPts val="1536"/>
        </a:spcBef>
        <a:buFont typeface="Arial" panose="020B0604020202020204" pitchFamily="34" charset="0"/>
        <a:buChar char="•"/>
        <a:defRPr sz="5530" kern="1200">
          <a:solidFill>
            <a:schemeClr val="tx1"/>
          </a:solidFill>
          <a:latin typeface="+mn-lt"/>
          <a:ea typeface="+mn-ea"/>
          <a:cs typeface="+mn-cs"/>
        </a:defRPr>
      </a:lvl5pPr>
      <a:lvl6pPr marL="7724851" indent="-702259" algn="l" defTabSz="2809037" rtl="0" eaLnBrk="1" latinLnBrk="0" hangingPunct="1">
        <a:lnSpc>
          <a:spcPct val="90000"/>
        </a:lnSpc>
        <a:spcBef>
          <a:spcPts val="1536"/>
        </a:spcBef>
        <a:buFont typeface="Arial" panose="020B0604020202020204" pitchFamily="34" charset="0"/>
        <a:buChar char="•"/>
        <a:defRPr sz="5530" kern="1200">
          <a:solidFill>
            <a:schemeClr val="tx1"/>
          </a:solidFill>
          <a:latin typeface="+mn-lt"/>
          <a:ea typeface="+mn-ea"/>
          <a:cs typeface="+mn-cs"/>
        </a:defRPr>
      </a:lvl6pPr>
      <a:lvl7pPr marL="9129370" indent="-702259" algn="l" defTabSz="2809037" rtl="0" eaLnBrk="1" latinLnBrk="0" hangingPunct="1">
        <a:lnSpc>
          <a:spcPct val="90000"/>
        </a:lnSpc>
        <a:spcBef>
          <a:spcPts val="1536"/>
        </a:spcBef>
        <a:buFont typeface="Arial" panose="020B0604020202020204" pitchFamily="34" charset="0"/>
        <a:buChar char="•"/>
        <a:defRPr sz="5530" kern="1200">
          <a:solidFill>
            <a:schemeClr val="tx1"/>
          </a:solidFill>
          <a:latin typeface="+mn-lt"/>
          <a:ea typeface="+mn-ea"/>
          <a:cs typeface="+mn-cs"/>
        </a:defRPr>
      </a:lvl7pPr>
      <a:lvl8pPr marL="10533888" indent="-702259" algn="l" defTabSz="2809037" rtl="0" eaLnBrk="1" latinLnBrk="0" hangingPunct="1">
        <a:lnSpc>
          <a:spcPct val="90000"/>
        </a:lnSpc>
        <a:spcBef>
          <a:spcPts val="1536"/>
        </a:spcBef>
        <a:buFont typeface="Arial" panose="020B0604020202020204" pitchFamily="34" charset="0"/>
        <a:buChar char="•"/>
        <a:defRPr sz="5530" kern="1200">
          <a:solidFill>
            <a:schemeClr val="tx1"/>
          </a:solidFill>
          <a:latin typeface="+mn-lt"/>
          <a:ea typeface="+mn-ea"/>
          <a:cs typeface="+mn-cs"/>
        </a:defRPr>
      </a:lvl8pPr>
      <a:lvl9pPr marL="11938406" indent="-702259" algn="l" defTabSz="2809037" rtl="0" eaLnBrk="1" latinLnBrk="0" hangingPunct="1">
        <a:lnSpc>
          <a:spcPct val="90000"/>
        </a:lnSpc>
        <a:spcBef>
          <a:spcPts val="1536"/>
        </a:spcBef>
        <a:buFont typeface="Arial" panose="020B0604020202020204" pitchFamily="34" charset="0"/>
        <a:buChar char="•"/>
        <a:defRPr sz="5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809037" rtl="0" eaLnBrk="1" latinLnBrk="0" hangingPunct="1">
        <a:defRPr sz="5530" kern="1200">
          <a:solidFill>
            <a:schemeClr val="tx1"/>
          </a:solidFill>
          <a:latin typeface="+mn-lt"/>
          <a:ea typeface="+mn-ea"/>
          <a:cs typeface="+mn-cs"/>
        </a:defRPr>
      </a:lvl1pPr>
      <a:lvl2pPr marL="1404518" algn="l" defTabSz="2809037" rtl="0" eaLnBrk="1" latinLnBrk="0" hangingPunct="1">
        <a:defRPr sz="5530" kern="1200">
          <a:solidFill>
            <a:schemeClr val="tx1"/>
          </a:solidFill>
          <a:latin typeface="+mn-lt"/>
          <a:ea typeface="+mn-ea"/>
          <a:cs typeface="+mn-cs"/>
        </a:defRPr>
      </a:lvl2pPr>
      <a:lvl3pPr marL="2809037" algn="l" defTabSz="2809037" rtl="0" eaLnBrk="1" latinLnBrk="0" hangingPunct="1">
        <a:defRPr sz="5530" kern="1200">
          <a:solidFill>
            <a:schemeClr val="tx1"/>
          </a:solidFill>
          <a:latin typeface="+mn-lt"/>
          <a:ea typeface="+mn-ea"/>
          <a:cs typeface="+mn-cs"/>
        </a:defRPr>
      </a:lvl3pPr>
      <a:lvl4pPr marL="4213555" algn="l" defTabSz="2809037" rtl="0" eaLnBrk="1" latinLnBrk="0" hangingPunct="1">
        <a:defRPr sz="5530" kern="1200">
          <a:solidFill>
            <a:schemeClr val="tx1"/>
          </a:solidFill>
          <a:latin typeface="+mn-lt"/>
          <a:ea typeface="+mn-ea"/>
          <a:cs typeface="+mn-cs"/>
        </a:defRPr>
      </a:lvl4pPr>
      <a:lvl5pPr marL="5618074" algn="l" defTabSz="2809037" rtl="0" eaLnBrk="1" latinLnBrk="0" hangingPunct="1">
        <a:defRPr sz="5530" kern="1200">
          <a:solidFill>
            <a:schemeClr val="tx1"/>
          </a:solidFill>
          <a:latin typeface="+mn-lt"/>
          <a:ea typeface="+mn-ea"/>
          <a:cs typeface="+mn-cs"/>
        </a:defRPr>
      </a:lvl5pPr>
      <a:lvl6pPr marL="7022592" algn="l" defTabSz="2809037" rtl="0" eaLnBrk="1" latinLnBrk="0" hangingPunct="1">
        <a:defRPr sz="5530" kern="1200">
          <a:solidFill>
            <a:schemeClr val="tx1"/>
          </a:solidFill>
          <a:latin typeface="+mn-lt"/>
          <a:ea typeface="+mn-ea"/>
          <a:cs typeface="+mn-cs"/>
        </a:defRPr>
      </a:lvl6pPr>
      <a:lvl7pPr marL="8427110" algn="l" defTabSz="2809037" rtl="0" eaLnBrk="1" latinLnBrk="0" hangingPunct="1">
        <a:defRPr sz="5530" kern="1200">
          <a:solidFill>
            <a:schemeClr val="tx1"/>
          </a:solidFill>
          <a:latin typeface="+mn-lt"/>
          <a:ea typeface="+mn-ea"/>
          <a:cs typeface="+mn-cs"/>
        </a:defRPr>
      </a:lvl7pPr>
      <a:lvl8pPr marL="9831629" algn="l" defTabSz="2809037" rtl="0" eaLnBrk="1" latinLnBrk="0" hangingPunct="1">
        <a:defRPr sz="5530" kern="1200">
          <a:solidFill>
            <a:schemeClr val="tx1"/>
          </a:solidFill>
          <a:latin typeface="+mn-lt"/>
          <a:ea typeface="+mn-ea"/>
          <a:cs typeface="+mn-cs"/>
        </a:defRPr>
      </a:lvl8pPr>
      <a:lvl9pPr marL="11236147" algn="l" defTabSz="2809037" rtl="0" eaLnBrk="1" latinLnBrk="0" hangingPunct="1">
        <a:defRPr sz="5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Relationship Id="rId13" Type="http://schemas.openxmlformats.org/officeDocument/2006/relationships/image" Target="../media/image13.png"/><Relationship Id="rId14" Type="http://schemas.openxmlformats.org/officeDocument/2006/relationships/image" Target="../media/image14.png"/><Relationship Id="rId16" Type="http://schemas.openxmlformats.org/officeDocument/2006/relationships/chart" Target="../charts/chart2.xml"/><Relationship Id="rId20" Type="http://schemas.openxmlformats.org/officeDocument/2006/relationships/image" Target="../media/image20.png"/><Relationship Id="rId21" Type="http://schemas.openxmlformats.org/officeDocument/2006/relationships/image" Target="../media/image21.png"/><Relationship Id="rId22" Type="http://schemas.openxmlformats.org/officeDocument/2006/relationships/image" Target="../media/image22.png"/><Relationship Id="rId23" Type="http://schemas.openxmlformats.org/officeDocument/2006/relationships/image" Target="../media/image23.png"/><Relationship Id="rId24" Type="http://schemas.openxmlformats.org/officeDocument/2006/relationships/image" Target="../media/image24.png"/><Relationship Id="rId25" Type="http://schemas.openxmlformats.org/officeDocument/2006/relationships/chart" Target="../charts/chart1.xml"/><Relationship Id="rId26" Type="http://schemas.openxmlformats.org/officeDocument/2006/relationships/image" Target="../media/image25.png"/><Relationship Id="rId27" Type="http://schemas.openxmlformats.org/officeDocument/2006/relationships/image" Target="../media/image26.png"/><Relationship Id="rId28" Type="http://schemas.openxmlformats.org/officeDocument/2006/relationships/image" Target="../media/image27.png"/><Relationship Id="rId31" Type="http://schemas.openxmlformats.org/officeDocument/2006/relationships/image" Target="../media/image30.png"/><Relationship Id="rId32" Type="http://schemas.openxmlformats.org/officeDocument/2006/relationships/hyperlink" Target="https://www.datos.gov.co/Comercio-Industria-y-Turismo/10-000-Empresas-mas-Grandes-del-Pa-s/6cat-2gcs/about_data" TargetMode="External"/><Relationship Id="rId33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841248" y="566928"/>
            <a:ext cx="32552640" cy="26974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6400" b="0" i="0">
                <a:solidFill>
                  <a:srgbClr val="FFFFFF"/>
                </a:solidFill>
                <a:latin typeface="Arial"/>
              </a:rPr>
              <a:t>ALERTA TEMPRANA DE DIFICULTADES FINANCIERAS</a:t>
            </a:r>
          </a:p>
          <a:p>
            <a:pPr algn="l">
              <a:spcBef>
                <a:spcPts val="400"/>
              </a:spcBef>
            </a:pPr>
            <a:r>
              <a:rPr sz="3600" b="0" i="0">
                <a:solidFill>
                  <a:srgbClr val="FFFFFF"/>
                </a:solidFill>
                <a:latin typeface="Arial"/>
              </a:rPr>
              <a:t>Predicción de pérdidas netas o patrimonio negativo en el año siguiente a partir de la información actual de cada empresa</a:t>
            </a:r>
          </a:p>
          <a:p>
            <a:pPr algn="l">
              <a:spcBef>
                <a:spcPts val="1400"/>
              </a:spcBef>
            </a:pPr>
            <a:r>
              <a:rPr sz="2600" b="0" i="0">
                <a:solidFill>
                  <a:srgbClr val="FFFFFF"/>
                </a:solidFill>
                <a:latin typeface="Arial"/>
              </a:rPr>
              <a:t>Dylan Ramirez Blanquicet  ·  Andres Felipe Guerra Amaris  ·  Jerónimo Hoyos Botero  ·  Pedro Aristizabal Alzate</a:t>
            </a:r>
          </a:p>
        </p:txBody>
      </p:sp>
      <p:sp>
        <p:nvSpPr>
          <p:cNvPr id="3" name="Objetivo, círculo"/>
          <p:cNvSpPr/>
          <p:nvPr/>
        </p:nvSpPr>
        <p:spPr>
          <a:xfrm>
            <a:off x="841248" y="4407407"/>
            <a:ext cx="603504" cy="603504"/>
          </a:xfrm>
          <a:prstGeom prst="ellipse">
            <a:avLst/>
          </a:prstGeom>
          <a:solidFill>
            <a:srgbClr val="005BB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" name="Objetivo, ícono" descr="crosshair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088" y="4552248"/>
            <a:ext cx="313822" cy="313822"/>
          </a:xfrm>
          <a:prstGeom prst="rect">
            <a:avLst/>
          </a:prstGeom>
        </p:spPr>
      </p:pic>
      <p:sp>
        <p:nvSpPr>
          <p:cNvPr id="5" name="Objetivo, título"/>
          <p:cNvSpPr txBox="1"/>
          <p:nvPr/>
        </p:nvSpPr>
        <p:spPr>
          <a:xfrm>
            <a:off x="1609344" y="4315968"/>
            <a:ext cx="7370064" cy="7863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/>
            <a:r>
              <a:rPr sz="4000" b="1" i="0">
                <a:solidFill>
                  <a:srgbClr val="005BBB"/>
                </a:solidFill>
                <a:latin typeface="Arial"/>
              </a:rPr>
              <a:t>Objetivo</a:t>
            </a:r>
          </a:p>
        </p:txBody>
      </p:sp>
      <p:sp>
        <p:nvSpPr>
          <p:cNvPr id="6" name="Flujo 1, círculo"/>
          <p:cNvSpPr/>
          <p:nvPr/>
        </p:nvSpPr>
        <p:spPr>
          <a:xfrm>
            <a:off x="1481328" y="5285232"/>
            <a:ext cx="1188720" cy="1188720"/>
          </a:xfrm>
          <a:prstGeom prst="ellipse">
            <a:avLst/>
          </a:prstGeom>
          <a:solidFill>
            <a:srgbClr val="005BB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" name="Flujo 1, ícono" descr="build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8508" y="5582412"/>
            <a:ext cx="594360" cy="594360"/>
          </a:xfrm>
          <a:prstGeom prst="rect">
            <a:avLst/>
          </a:prstGeom>
        </p:spPr>
      </p:pic>
      <p:sp>
        <p:nvSpPr>
          <p:cNvPr id="8" name="Flujo 1, texto"/>
          <p:cNvSpPr txBox="1"/>
          <p:nvPr/>
        </p:nvSpPr>
        <p:spPr>
          <a:xfrm>
            <a:off x="749808" y="6565392"/>
            <a:ext cx="2651760" cy="8229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/>
            <a:r>
              <a:rPr sz="2200" b="1" i="0">
                <a:solidFill>
                  <a:srgbClr val="0E2841"/>
                </a:solidFill>
                <a:latin typeface="Arial"/>
              </a:rPr>
              <a:t>Información actual</a:t>
            </a:r>
          </a:p>
          <a:p>
            <a:pPr algn="ctr"/>
            <a:r>
              <a:rPr sz="1700" b="0" i="0">
                <a:solidFill>
                  <a:srgbClr val="5B6675"/>
                </a:solidFill>
                <a:latin typeface="Arial"/>
              </a:rPr>
              <a:t>de la empresa, año t</a:t>
            </a:r>
          </a:p>
        </p:txBody>
      </p:sp>
      <p:sp>
        <p:nvSpPr>
          <p:cNvPr id="9" name="Flujo 2, círculo"/>
          <p:cNvSpPr/>
          <p:nvPr/>
        </p:nvSpPr>
        <p:spPr>
          <a:xfrm>
            <a:off x="4315968" y="5285232"/>
            <a:ext cx="1188720" cy="118872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Flujo 2, ícono" descr="network-wire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3148" y="5582412"/>
            <a:ext cx="594360" cy="594360"/>
          </a:xfrm>
          <a:prstGeom prst="rect">
            <a:avLst/>
          </a:prstGeom>
        </p:spPr>
      </p:pic>
      <p:sp>
        <p:nvSpPr>
          <p:cNvPr id="11" name="Flujo 2, texto"/>
          <p:cNvSpPr txBox="1"/>
          <p:nvPr/>
        </p:nvSpPr>
        <p:spPr>
          <a:xfrm>
            <a:off x="3584448" y="6565392"/>
            <a:ext cx="2651760" cy="8229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/>
            <a:r>
              <a:rPr sz="2200" b="1" i="0">
                <a:solidFill>
                  <a:srgbClr val="0E2841"/>
                </a:solidFill>
                <a:latin typeface="Arial"/>
              </a:rPr>
              <a:t>Classifier</a:t>
            </a:r>
          </a:p>
          <a:p>
            <a:pPr algn="ctr"/>
            <a:r>
              <a:rPr sz="1700" b="0" i="0">
                <a:solidFill>
                  <a:srgbClr val="5B6675"/>
                </a:solidFill>
                <a:latin typeface="Arial"/>
              </a:rPr>
              <a:t>alerta temprana</a:t>
            </a:r>
          </a:p>
        </p:txBody>
      </p:sp>
      <p:sp>
        <p:nvSpPr>
          <p:cNvPr id="12" name="Flujo 3, círculo"/>
          <p:cNvSpPr/>
          <p:nvPr/>
        </p:nvSpPr>
        <p:spPr>
          <a:xfrm>
            <a:off x="7150608" y="5285232"/>
            <a:ext cx="1188720" cy="1188720"/>
          </a:xfrm>
          <a:prstGeom prst="ellipse">
            <a:avLst/>
          </a:prstGeom>
          <a:solidFill>
            <a:srgbClr val="C96A0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Flujo 3, ícono" descr="triangle-exclamati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47788" y="5582412"/>
            <a:ext cx="594360" cy="594360"/>
          </a:xfrm>
          <a:prstGeom prst="rect">
            <a:avLst/>
          </a:prstGeom>
        </p:spPr>
      </p:pic>
      <p:sp>
        <p:nvSpPr>
          <p:cNvPr id="14" name="Flujo 3, texto"/>
          <p:cNvSpPr txBox="1"/>
          <p:nvPr/>
        </p:nvSpPr>
        <p:spPr>
          <a:xfrm>
            <a:off x="6419088" y="6565392"/>
            <a:ext cx="2651760" cy="8229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/>
            <a:r>
              <a:rPr sz="2200" b="1" i="0">
                <a:solidFill>
                  <a:srgbClr val="0E2841"/>
                </a:solidFill>
                <a:latin typeface="Arial"/>
              </a:rPr>
              <a:t>Dificultad</a:t>
            </a:r>
          </a:p>
          <a:p>
            <a:pPr algn="ctr"/>
            <a:r>
              <a:rPr sz="1700" b="0" i="0">
                <a:solidFill>
                  <a:srgbClr val="5B6675"/>
                </a:solidFill>
                <a:latin typeface="Arial"/>
              </a:rPr>
              <a:t>financiera en el año t + 1</a:t>
            </a:r>
          </a:p>
        </p:txBody>
      </p:sp>
      <p:pic>
        <p:nvPicPr>
          <p:cNvPr id="15" name="Flujo flecha 1" descr="arrow-right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36976" y="5623560"/>
            <a:ext cx="512064" cy="512064"/>
          </a:xfrm>
          <a:prstGeom prst="rect">
            <a:avLst/>
          </a:prstGeom>
        </p:spPr>
      </p:pic>
      <p:pic>
        <p:nvPicPr>
          <p:cNvPr id="16" name="Flujo flecha 2" descr="arrow-right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71616" y="5623560"/>
            <a:ext cx="512064" cy="512064"/>
          </a:xfrm>
          <a:prstGeom prst="rect">
            <a:avLst/>
          </a:prstGeom>
        </p:spPr>
      </p:pic>
      <p:sp>
        <p:nvSpPr>
          <p:cNvPr id="17" name="Definición, título"/>
          <p:cNvSpPr txBox="1"/>
          <p:nvPr/>
        </p:nvSpPr>
        <p:spPr>
          <a:xfrm>
            <a:off x="841248" y="7607808"/>
            <a:ext cx="8138160" cy="4114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sz="2100" b="1" i="0">
                <a:solidFill>
                  <a:srgbClr val="0E2841"/>
                </a:solidFill>
                <a:latin typeface="Arial"/>
              </a:rPr>
              <a:t>Definición de dificultad financiera</a:t>
            </a:r>
          </a:p>
        </p:txBody>
      </p:sp>
      <p:sp>
        <p:nvSpPr>
          <p:cNvPr id="18" name="Definición 1"/>
          <p:cNvSpPr/>
          <p:nvPr/>
        </p:nvSpPr>
        <p:spPr>
          <a:xfrm>
            <a:off x="841248" y="8065008"/>
            <a:ext cx="3611880" cy="768096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Definición 1, círculo"/>
          <p:cNvSpPr/>
          <p:nvPr/>
        </p:nvSpPr>
        <p:spPr>
          <a:xfrm>
            <a:off x="950976" y="8174736"/>
            <a:ext cx="548640" cy="548640"/>
          </a:xfrm>
          <a:prstGeom prst="ellipse">
            <a:avLst/>
          </a:prstGeom>
          <a:solidFill>
            <a:srgbClr val="C96A0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Definición 1, ícono" descr="arrow-trend-dow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4420" y="8298179"/>
            <a:ext cx="301752" cy="301752"/>
          </a:xfrm>
          <a:prstGeom prst="rect">
            <a:avLst/>
          </a:prstGeom>
        </p:spPr>
      </p:pic>
      <p:sp>
        <p:nvSpPr>
          <p:cNvPr id="21" name="Definición 1, texto"/>
          <p:cNvSpPr txBox="1"/>
          <p:nvPr/>
        </p:nvSpPr>
        <p:spPr>
          <a:xfrm>
            <a:off x="1655064" y="8065008"/>
            <a:ext cx="2706624" cy="7680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/>
            <a:r>
              <a:rPr sz="2100" b="1" i="0">
                <a:solidFill>
                  <a:srgbClr val="0E2841"/>
                </a:solidFill>
                <a:latin typeface="Arial"/>
              </a:rPr>
              <a:t>Pérdidas netas</a:t>
            </a:r>
          </a:p>
        </p:txBody>
      </p:sp>
      <p:sp>
        <p:nvSpPr>
          <p:cNvPr id="22" name="Definición 2"/>
          <p:cNvSpPr/>
          <p:nvPr/>
        </p:nvSpPr>
        <p:spPr>
          <a:xfrm>
            <a:off x="4910328" y="8065008"/>
            <a:ext cx="4069080" cy="768096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Definición 2, círculo"/>
          <p:cNvSpPr/>
          <p:nvPr/>
        </p:nvSpPr>
        <p:spPr>
          <a:xfrm>
            <a:off x="5020056" y="8174736"/>
            <a:ext cx="548640" cy="548640"/>
          </a:xfrm>
          <a:prstGeom prst="ellipse">
            <a:avLst/>
          </a:prstGeom>
          <a:solidFill>
            <a:srgbClr val="C96A0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4" name="Definición 2, ícono" descr="scale-unbalanced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43500" y="8298179"/>
            <a:ext cx="301752" cy="301752"/>
          </a:xfrm>
          <a:prstGeom prst="rect">
            <a:avLst/>
          </a:prstGeom>
        </p:spPr>
      </p:pic>
      <p:sp>
        <p:nvSpPr>
          <p:cNvPr id="25" name="Definición 2, texto"/>
          <p:cNvSpPr txBox="1"/>
          <p:nvPr/>
        </p:nvSpPr>
        <p:spPr>
          <a:xfrm>
            <a:off x="5724144" y="8065008"/>
            <a:ext cx="3163824" cy="7680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/>
            <a:r>
              <a:rPr sz="2100" b="1" i="0">
                <a:solidFill>
                  <a:srgbClr val="0E2841"/>
                </a:solidFill>
                <a:latin typeface="Arial"/>
              </a:rPr>
              <a:t>Patrimonio negativo</a:t>
            </a:r>
          </a:p>
        </p:txBody>
      </p:sp>
      <p:sp>
        <p:nvSpPr>
          <p:cNvPr id="26" name="Definición, o"/>
          <p:cNvSpPr txBox="1"/>
          <p:nvPr/>
        </p:nvSpPr>
        <p:spPr>
          <a:xfrm>
            <a:off x="4453128" y="8065008"/>
            <a:ext cx="457200" cy="7680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sz="2200" b="1" i="0">
                <a:solidFill>
                  <a:srgbClr val="5B6675"/>
                </a:solidFill>
                <a:latin typeface="Arial"/>
              </a:rPr>
              <a:t>o</a:t>
            </a:r>
          </a:p>
        </p:txBody>
      </p:sp>
      <p:pic>
        <p:nvPicPr>
          <p:cNvPr id="27" name="Datos, ícono" descr="database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93808" y="5458967"/>
            <a:ext cx="457200" cy="457200"/>
          </a:xfrm>
          <a:prstGeom prst="rect">
            <a:avLst/>
          </a:prstGeom>
        </p:spPr>
      </p:pic>
      <p:sp>
        <p:nvSpPr>
          <p:cNvPr id="28" name="Datos, texto"/>
          <p:cNvSpPr txBox="1"/>
          <p:nvPr/>
        </p:nvSpPr>
        <p:spPr>
          <a:xfrm>
            <a:off x="10533888" y="5385815"/>
            <a:ext cx="7406640" cy="6858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sz="1900" b="1" i="0">
                <a:solidFill>
                  <a:srgbClr val="0E2841"/>
                </a:solidFill>
                <a:latin typeface="Arial"/>
              </a:rPr>
              <a:t>10.000 Empresas más Grandes del País</a:t>
            </a:r>
          </a:p>
          <a:p>
            <a:pPr algn="l"/>
            <a:r>
              <a:rPr sz="1700" b="0" i="0">
                <a:solidFill>
                  <a:srgbClr val="5B6675"/>
                </a:solidFill>
                <a:latin typeface="Arial"/>
              </a:rPr>
              <a:t>datos.gov.co  ·  reto Datos al Ecosistema 2025 (MinTIC)</a:t>
            </a:r>
          </a:p>
        </p:txBody>
      </p:sp>
      <p:cxnSp>
        <p:nvCxnSpPr>
          <p:cNvPr id="29" name="Separador 1"/>
          <p:cNvCxnSpPr/>
          <p:nvPr/>
        </p:nvCxnSpPr>
        <p:spPr>
          <a:xfrm>
            <a:off x="841248" y="10040112"/>
            <a:ext cx="8138160" cy="0"/>
          </a:xfrm>
          <a:prstGeom prst="line">
            <a:avLst/>
          </a:prstGeom>
          <a:ln w="25400">
            <a:solidFill>
              <a:srgbClr val="000000"/>
            </a:solidFill>
            <a:prstDash val="dash"/>
          </a:ln>
        </p:spPr>
      </p:cxnSp>
      <p:sp>
        <p:nvSpPr>
          <p:cNvPr id="30" name="Metodología, círculo"/>
          <p:cNvSpPr/>
          <p:nvPr/>
        </p:nvSpPr>
        <p:spPr>
          <a:xfrm>
            <a:off x="841248" y="10287000"/>
            <a:ext cx="603504" cy="603504"/>
          </a:xfrm>
          <a:prstGeom prst="ellipse">
            <a:avLst/>
          </a:prstGeom>
          <a:solidFill>
            <a:srgbClr val="005BB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1" name="Metodología, ícono" descr="diagram-project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6088" y="10431840"/>
            <a:ext cx="313822" cy="313822"/>
          </a:xfrm>
          <a:prstGeom prst="rect">
            <a:avLst/>
          </a:prstGeom>
        </p:spPr>
      </p:pic>
      <p:sp>
        <p:nvSpPr>
          <p:cNvPr id="32" name="Metodología, título"/>
          <p:cNvSpPr txBox="1"/>
          <p:nvPr/>
        </p:nvSpPr>
        <p:spPr>
          <a:xfrm>
            <a:off x="1609344" y="10195560"/>
            <a:ext cx="7370064" cy="7863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/>
            <a:r>
              <a:rPr sz="4000" b="1" i="0">
                <a:solidFill>
                  <a:srgbClr val="005BBB"/>
                </a:solidFill>
                <a:latin typeface="Arial"/>
              </a:rPr>
              <a:t>Metodología</a:t>
            </a:r>
          </a:p>
        </p:txBody>
      </p:sp>
      <p:sp>
        <p:nvSpPr>
          <p:cNvPr id="33" name="Paso 1, tarjeta"/>
          <p:cNvSpPr/>
          <p:nvPr/>
        </p:nvSpPr>
        <p:spPr>
          <a:xfrm>
            <a:off x="841248" y="11109960"/>
            <a:ext cx="2493264" cy="1828800"/>
          </a:xfrm>
          <a:prstGeom prst="roundRect">
            <a:avLst>
              <a:gd name="adj" fmla="val 7000"/>
            </a:avLst>
          </a:prstGeom>
          <a:solidFill>
            <a:srgbClr val="EEF3FA"/>
          </a:solidFill>
          <a:ln w="15875">
            <a:solidFill>
              <a:srgbClr val="D5DF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Paso 1, número"/>
          <p:cNvSpPr/>
          <p:nvPr/>
        </p:nvSpPr>
        <p:spPr>
          <a:xfrm>
            <a:off x="987552" y="11256264"/>
            <a:ext cx="530352" cy="530352"/>
          </a:xfrm>
          <a:prstGeom prst="ellipse">
            <a:avLst/>
          </a:prstGeom>
          <a:solidFill>
            <a:srgbClr val="005BBB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5" name="Paso 1, nombre"/>
          <p:cNvSpPr txBox="1"/>
          <p:nvPr/>
        </p:nvSpPr>
        <p:spPr>
          <a:xfrm>
            <a:off x="1645920" y="11256264"/>
            <a:ext cx="1624584" cy="53035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/>
            <a:r>
              <a:rPr sz="2200" b="1" i="0">
                <a:solidFill>
                  <a:srgbClr val="0E2841"/>
                </a:solidFill>
                <a:latin typeface="Arial"/>
              </a:rPr>
              <a:t>Datos</a:t>
            </a:r>
          </a:p>
        </p:txBody>
      </p:sp>
      <p:sp>
        <p:nvSpPr>
          <p:cNvPr id="36" name="Paso 1, cifra"/>
          <p:cNvSpPr txBox="1"/>
          <p:nvPr/>
        </p:nvSpPr>
        <p:spPr>
          <a:xfrm>
            <a:off x="1024128" y="11896344"/>
            <a:ext cx="2218944" cy="60350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/>
            <a:r>
              <a:rPr sz="3600" b="1" i="0">
                <a:solidFill>
                  <a:srgbClr val="005BBB"/>
                </a:solidFill>
                <a:latin typeface="Arial"/>
              </a:rPr>
              <a:t>50.000</a:t>
            </a:r>
          </a:p>
        </p:txBody>
      </p:sp>
      <p:sp>
        <p:nvSpPr>
          <p:cNvPr id="37" name="Paso 1, detalle"/>
          <p:cNvSpPr txBox="1"/>
          <p:nvPr/>
        </p:nvSpPr>
        <p:spPr>
          <a:xfrm>
            <a:off x="1024128" y="12527280"/>
            <a:ext cx="2218944" cy="32918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sz="1700" b="0" i="0">
                <a:solidFill>
                  <a:srgbClr val="5B6675"/>
                </a:solidFill>
                <a:latin typeface="Arial"/>
              </a:rPr>
              <a:t>registros brutos</a:t>
            </a:r>
          </a:p>
        </p:txBody>
      </p:sp>
      <p:pic>
        <p:nvPicPr>
          <p:cNvPr id="38" name="Paso 1, flecha" descr="caret-right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61943" y="11384280"/>
            <a:ext cx="274320" cy="274320"/>
          </a:xfrm>
          <a:prstGeom prst="rect">
            <a:avLst/>
          </a:prstGeom>
        </p:spPr>
      </p:pic>
      <p:sp>
        <p:nvSpPr>
          <p:cNvPr id="39" name="Paso 2, tarjeta"/>
          <p:cNvSpPr/>
          <p:nvPr/>
        </p:nvSpPr>
        <p:spPr>
          <a:xfrm>
            <a:off x="3663696" y="11109960"/>
            <a:ext cx="2493264" cy="1828800"/>
          </a:xfrm>
          <a:prstGeom prst="roundRect">
            <a:avLst>
              <a:gd name="adj" fmla="val 7000"/>
            </a:avLst>
          </a:prstGeom>
          <a:solidFill>
            <a:srgbClr val="EEF3FA"/>
          </a:solidFill>
          <a:ln w="15875">
            <a:solidFill>
              <a:srgbClr val="D5DF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Paso 2, número"/>
          <p:cNvSpPr/>
          <p:nvPr/>
        </p:nvSpPr>
        <p:spPr>
          <a:xfrm>
            <a:off x="3810000" y="11256264"/>
            <a:ext cx="530352" cy="530352"/>
          </a:xfrm>
          <a:prstGeom prst="ellipse">
            <a:avLst/>
          </a:prstGeom>
          <a:solidFill>
            <a:srgbClr val="005BBB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41" name="Paso 2, nombre"/>
          <p:cNvSpPr txBox="1"/>
          <p:nvPr/>
        </p:nvSpPr>
        <p:spPr>
          <a:xfrm>
            <a:off x="4468368" y="11256264"/>
            <a:ext cx="1624584" cy="53035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/>
            <a:r>
              <a:rPr sz="2200" b="1" i="0">
                <a:solidFill>
                  <a:srgbClr val="0E2841"/>
                </a:solidFill>
                <a:latin typeface="Arial"/>
              </a:rPr>
              <a:t>Limpieza</a:t>
            </a:r>
          </a:p>
        </p:txBody>
      </p:sp>
      <p:sp>
        <p:nvSpPr>
          <p:cNvPr id="42" name="Paso 2, cifra"/>
          <p:cNvSpPr txBox="1"/>
          <p:nvPr/>
        </p:nvSpPr>
        <p:spPr>
          <a:xfrm>
            <a:off x="3846576" y="11896344"/>
            <a:ext cx="2218944" cy="60350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/>
            <a:r>
              <a:rPr sz="3600" b="1" i="0">
                <a:solidFill>
                  <a:srgbClr val="005BBB"/>
                </a:solidFill>
                <a:latin typeface="Arial"/>
              </a:rPr>
              <a:t>47.115</a:t>
            </a:r>
          </a:p>
        </p:txBody>
      </p:sp>
      <p:sp>
        <p:nvSpPr>
          <p:cNvPr id="43" name="Paso 2, detalle"/>
          <p:cNvSpPr txBox="1"/>
          <p:nvPr/>
        </p:nvSpPr>
        <p:spPr>
          <a:xfrm>
            <a:off x="3846576" y="12527280"/>
            <a:ext cx="2218944" cy="32918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sz="1700" b="0" i="0">
                <a:solidFill>
                  <a:srgbClr val="5B6675"/>
                </a:solidFill>
                <a:latin typeface="Arial"/>
              </a:rPr>
              <a:t>registros limpios</a:t>
            </a:r>
          </a:p>
        </p:txBody>
      </p:sp>
      <p:pic>
        <p:nvPicPr>
          <p:cNvPr id="44" name="Paso 2, flecha" descr="caret-right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84392" y="11384280"/>
            <a:ext cx="274320" cy="274320"/>
          </a:xfrm>
          <a:prstGeom prst="rect">
            <a:avLst/>
          </a:prstGeom>
        </p:spPr>
      </p:pic>
      <p:sp>
        <p:nvSpPr>
          <p:cNvPr id="45" name="Paso 3, tarjeta"/>
          <p:cNvSpPr/>
          <p:nvPr/>
        </p:nvSpPr>
        <p:spPr>
          <a:xfrm>
            <a:off x="6486144" y="11109960"/>
            <a:ext cx="2493264" cy="1828800"/>
          </a:xfrm>
          <a:prstGeom prst="roundRect">
            <a:avLst>
              <a:gd name="adj" fmla="val 7000"/>
            </a:avLst>
          </a:prstGeom>
          <a:solidFill>
            <a:srgbClr val="EEF3FA"/>
          </a:solidFill>
          <a:ln w="15875">
            <a:solidFill>
              <a:srgbClr val="D5DF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Paso 3, número"/>
          <p:cNvSpPr/>
          <p:nvPr/>
        </p:nvSpPr>
        <p:spPr>
          <a:xfrm>
            <a:off x="6632448" y="11256264"/>
            <a:ext cx="530352" cy="530352"/>
          </a:xfrm>
          <a:prstGeom prst="ellipse">
            <a:avLst/>
          </a:prstGeom>
          <a:solidFill>
            <a:srgbClr val="005BBB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47" name="Paso 3, nombre"/>
          <p:cNvSpPr txBox="1"/>
          <p:nvPr/>
        </p:nvSpPr>
        <p:spPr>
          <a:xfrm>
            <a:off x="7290815" y="11256264"/>
            <a:ext cx="1624584" cy="53035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/>
            <a:r>
              <a:rPr sz="2200" b="1" i="0">
                <a:solidFill>
                  <a:srgbClr val="0E2841"/>
                </a:solidFill>
                <a:latin typeface="Arial"/>
              </a:rPr>
              <a:t>Features</a:t>
            </a:r>
          </a:p>
        </p:txBody>
      </p:sp>
      <p:sp>
        <p:nvSpPr>
          <p:cNvPr id="48" name="Paso 3, cifra"/>
          <p:cNvSpPr txBox="1"/>
          <p:nvPr/>
        </p:nvSpPr>
        <p:spPr>
          <a:xfrm>
            <a:off x="6669024" y="11896344"/>
            <a:ext cx="2218944" cy="60350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/>
            <a:r>
              <a:rPr sz="3600" b="1" i="0">
                <a:solidFill>
                  <a:srgbClr val="005BBB"/>
                </a:solidFill>
                <a:latin typeface="Arial"/>
              </a:rPr>
              <a:t>32.043</a:t>
            </a:r>
          </a:p>
        </p:txBody>
      </p:sp>
      <p:sp>
        <p:nvSpPr>
          <p:cNvPr id="49" name="Paso 3, detalle"/>
          <p:cNvSpPr txBox="1"/>
          <p:nvPr/>
        </p:nvSpPr>
        <p:spPr>
          <a:xfrm>
            <a:off x="6669024" y="12527280"/>
            <a:ext cx="2218944" cy="32918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sz="1700" b="0" i="0">
                <a:solidFill>
                  <a:srgbClr val="5B6675"/>
                </a:solidFill>
                <a:latin typeface="Arial"/>
              </a:rPr>
              <a:t>obs. × 22 columnas</a:t>
            </a:r>
          </a:p>
        </p:txBody>
      </p:sp>
      <p:sp>
        <p:nvSpPr>
          <p:cNvPr id="50" name="Paso 4, tarjeta"/>
          <p:cNvSpPr/>
          <p:nvPr/>
        </p:nvSpPr>
        <p:spPr>
          <a:xfrm>
            <a:off x="841248" y="13213080"/>
            <a:ext cx="3904488" cy="1828800"/>
          </a:xfrm>
          <a:prstGeom prst="roundRect">
            <a:avLst>
              <a:gd name="adj" fmla="val 7000"/>
            </a:avLst>
          </a:prstGeom>
          <a:solidFill>
            <a:srgbClr val="EEF3FA"/>
          </a:solidFill>
          <a:ln w="15875">
            <a:solidFill>
              <a:srgbClr val="D5DF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Paso 4, número"/>
          <p:cNvSpPr/>
          <p:nvPr/>
        </p:nvSpPr>
        <p:spPr>
          <a:xfrm>
            <a:off x="987552" y="13359384"/>
            <a:ext cx="530352" cy="530352"/>
          </a:xfrm>
          <a:prstGeom prst="ellipse">
            <a:avLst/>
          </a:prstGeom>
          <a:solidFill>
            <a:srgbClr val="005BBB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52" name="Paso 4, nombre"/>
          <p:cNvSpPr txBox="1"/>
          <p:nvPr/>
        </p:nvSpPr>
        <p:spPr>
          <a:xfrm>
            <a:off x="1645920" y="13359384"/>
            <a:ext cx="3035808" cy="53035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/>
            <a:r>
              <a:rPr sz="2200" b="1" i="0">
                <a:solidFill>
                  <a:srgbClr val="0E2841"/>
                </a:solidFill>
                <a:latin typeface="Arial"/>
              </a:rPr>
              <a:t>Modelado</a:t>
            </a:r>
          </a:p>
        </p:txBody>
      </p:sp>
      <p:sp>
        <p:nvSpPr>
          <p:cNvPr id="53" name="Paso 4, cifra"/>
          <p:cNvSpPr txBox="1"/>
          <p:nvPr/>
        </p:nvSpPr>
        <p:spPr>
          <a:xfrm>
            <a:off x="1024128" y="13999464"/>
            <a:ext cx="3630168" cy="60350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/>
            <a:r>
              <a:rPr sz="3600" b="1" i="0">
                <a:solidFill>
                  <a:srgbClr val="005BBB"/>
                </a:solidFill>
                <a:latin typeface="Arial"/>
              </a:rPr>
              <a:t>8</a:t>
            </a:r>
          </a:p>
        </p:txBody>
      </p:sp>
      <p:sp>
        <p:nvSpPr>
          <p:cNvPr id="54" name="Paso 4, detalle"/>
          <p:cNvSpPr txBox="1"/>
          <p:nvPr/>
        </p:nvSpPr>
        <p:spPr>
          <a:xfrm>
            <a:off x="1024128" y="14630400"/>
            <a:ext cx="3630168" cy="32918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sz="1700" b="0" i="0">
                <a:solidFill>
                  <a:srgbClr val="5B6675"/>
                </a:solidFill>
                <a:latin typeface="Arial"/>
              </a:rPr>
              <a:t>modelos comparados</a:t>
            </a:r>
          </a:p>
        </p:txBody>
      </p:sp>
      <p:pic>
        <p:nvPicPr>
          <p:cNvPr id="55" name="Paso 4, flecha" descr="caret-right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73168" y="13487400"/>
            <a:ext cx="274320" cy="274320"/>
          </a:xfrm>
          <a:prstGeom prst="rect">
            <a:avLst/>
          </a:prstGeom>
        </p:spPr>
      </p:pic>
      <p:sp>
        <p:nvSpPr>
          <p:cNvPr id="56" name="Paso 5, tarjeta"/>
          <p:cNvSpPr/>
          <p:nvPr/>
        </p:nvSpPr>
        <p:spPr>
          <a:xfrm>
            <a:off x="5074920" y="13213080"/>
            <a:ext cx="3904488" cy="1828800"/>
          </a:xfrm>
          <a:prstGeom prst="roundRect">
            <a:avLst>
              <a:gd name="adj" fmla="val 7000"/>
            </a:avLst>
          </a:prstGeom>
          <a:solidFill>
            <a:srgbClr val="EEF3FA"/>
          </a:solidFill>
          <a:ln w="15875">
            <a:solidFill>
              <a:srgbClr val="D5DF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Paso 5, número"/>
          <p:cNvSpPr/>
          <p:nvPr/>
        </p:nvSpPr>
        <p:spPr>
          <a:xfrm>
            <a:off x="5221224" y="13359384"/>
            <a:ext cx="530352" cy="530352"/>
          </a:xfrm>
          <a:prstGeom prst="ellipse">
            <a:avLst/>
          </a:prstGeom>
          <a:solidFill>
            <a:srgbClr val="005BBB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58" name="Paso 5, nombre"/>
          <p:cNvSpPr txBox="1"/>
          <p:nvPr/>
        </p:nvSpPr>
        <p:spPr>
          <a:xfrm>
            <a:off x="5879592" y="13359384"/>
            <a:ext cx="3035808" cy="53035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/>
            <a:r>
              <a:rPr sz="2200" b="1" i="0">
                <a:solidFill>
                  <a:srgbClr val="0E2841"/>
                </a:solidFill>
                <a:latin typeface="Arial"/>
              </a:rPr>
              <a:t>Evaluación</a:t>
            </a:r>
          </a:p>
        </p:txBody>
      </p:sp>
      <p:sp>
        <p:nvSpPr>
          <p:cNvPr id="59" name="Paso 5, cifra"/>
          <p:cNvSpPr txBox="1"/>
          <p:nvPr/>
        </p:nvSpPr>
        <p:spPr>
          <a:xfrm>
            <a:off x="5257800" y="13999464"/>
            <a:ext cx="3630168" cy="60350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/>
            <a:r>
              <a:rPr sz="3600" b="1" i="0">
                <a:solidFill>
                  <a:srgbClr val="005BBB"/>
                </a:solidFill>
                <a:latin typeface="Arial"/>
              </a:rPr>
              <a:t>AUC 0.904</a:t>
            </a:r>
          </a:p>
        </p:txBody>
      </p:sp>
      <p:sp>
        <p:nvSpPr>
          <p:cNvPr id="60" name="Paso 5, detalle"/>
          <p:cNvSpPr txBox="1"/>
          <p:nvPr/>
        </p:nvSpPr>
        <p:spPr>
          <a:xfrm>
            <a:off x="5257800" y="14630400"/>
            <a:ext cx="3630168" cy="32918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sz="1700" b="0" i="0">
                <a:solidFill>
                  <a:srgbClr val="5B6675"/>
                </a:solidFill>
                <a:latin typeface="Arial"/>
              </a:rPr>
              <a:t>Neural Network (mejor)</a:t>
            </a:r>
          </a:p>
        </p:txBody>
      </p:sp>
      <p:sp>
        <p:nvSpPr>
          <p:cNvPr id="61" name="Años, título"/>
          <p:cNvSpPr txBox="1"/>
          <p:nvPr/>
        </p:nvSpPr>
        <p:spPr>
          <a:xfrm>
            <a:off x="841248" y="15380208"/>
            <a:ext cx="8138160" cy="457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sz="2200" b="1" i="0">
                <a:solidFill>
                  <a:srgbClr val="0E2841"/>
                </a:solidFill>
                <a:latin typeface="Arial"/>
              </a:rPr>
              <a:t>Partición temporal de los datos</a:t>
            </a:r>
          </a:p>
        </p:txBody>
      </p:sp>
      <p:sp>
        <p:nvSpPr>
          <p:cNvPr id="62" name="Año 2022"/>
          <p:cNvSpPr/>
          <p:nvPr/>
        </p:nvSpPr>
        <p:spPr>
          <a:xfrm>
            <a:off x="841248" y="15910559"/>
            <a:ext cx="1931670" cy="1417320"/>
          </a:xfrm>
          <a:prstGeom prst="roundRect">
            <a:avLst>
              <a:gd name="adj" fmla="val 10000"/>
            </a:avLst>
          </a:prstGeom>
          <a:solidFill>
            <a:srgbClr val="0284C7"/>
          </a:solidFill>
          <a:ln>
            <a:noFill/>
          </a:ln>
        </p:spPr>
        <p:txBody>
          <a:bodyPr rtlCol="0" anchor="ctr" wrap="square" lIns="36576" tIns="36576" rIns="36576" bIns="36576">
            <a:no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"/>
              </a:rPr>
              <a:t>2022</a:t>
            </a:r>
          </a:p>
          <a:p>
            <a:pPr algn="ctr"/>
            <a:r>
              <a:rPr sz="1700" b="1" i="0">
                <a:solidFill>
                  <a:srgbClr val="FFFFFF"/>
                </a:solidFill>
                <a:latin typeface="Arial"/>
              </a:rPr>
              <a:t>Train</a:t>
            </a:r>
          </a:p>
          <a:p>
            <a:pPr algn="ctr"/>
            <a:r>
              <a:rPr sz="1500" b="0" i="0">
                <a:solidFill>
                  <a:srgbClr val="FFFFFF"/>
                </a:solidFill>
                <a:latin typeface="Arial"/>
              </a:rPr>
              <a:t>7.518 obs.</a:t>
            </a:r>
          </a:p>
        </p:txBody>
      </p:sp>
      <p:sp>
        <p:nvSpPr>
          <p:cNvPr id="63" name="Año 2023"/>
          <p:cNvSpPr/>
          <p:nvPr/>
        </p:nvSpPr>
        <p:spPr>
          <a:xfrm>
            <a:off x="2910078" y="15910559"/>
            <a:ext cx="1931670" cy="1417320"/>
          </a:xfrm>
          <a:prstGeom prst="roundRect">
            <a:avLst>
              <a:gd name="adj" fmla="val 10000"/>
            </a:avLst>
          </a:prstGeom>
          <a:solidFill>
            <a:srgbClr val="D97706"/>
          </a:solidFill>
          <a:ln>
            <a:noFill/>
          </a:ln>
        </p:spPr>
        <p:txBody>
          <a:bodyPr rtlCol="0" anchor="ctr" wrap="square" lIns="36576" tIns="36576" rIns="36576" bIns="36576">
            <a:no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"/>
              </a:rPr>
              <a:t>2023</a:t>
            </a:r>
          </a:p>
          <a:p>
            <a:pPr algn="ctr"/>
            <a:r>
              <a:rPr sz="1700" b="1" i="0">
                <a:solidFill>
                  <a:srgbClr val="FFFFFF"/>
                </a:solidFill>
                <a:latin typeface="Arial"/>
              </a:rPr>
              <a:t>Validation</a:t>
            </a:r>
          </a:p>
          <a:p>
            <a:pPr algn="ctr"/>
            <a:r>
              <a:rPr sz="1500" b="0" i="0">
                <a:solidFill>
                  <a:srgbClr val="FFFFFF"/>
                </a:solidFill>
                <a:latin typeface="Arial"/>
              </a:rPr>
              <a:t>8.229 obs.</a:t>
            </a:r>
          </a:p>
        </p:txBody>
      </p:sp>
      <p:sp>
        <p:nvSpPr>
          <p:cNvPr id="64" name="Año 2024"/>
          <p:cNvSpPr/>
          <p:nvPr/>
        </p:nvSpPr>
        <p:spPr>
          <a:xfrm>
            <a:off x="4978908" y="15910559"/>
            <a:ext cx="1931670" cy="1417320"/>
          </a:xfrm>
          <a:prstGeom prst="roundRect">
            <a:avLst>
              <a:gd name="adj" fmla="val 10000"/>
            </a:avLst>
          </a:prstGeom>
          <a:solidFill>
            <a:srgbClr val="059669"/>
          </a:solidFill>
          <a:ln>
            <a:noFill/>
          </a:ln>
        </p:spPr>
        <p:txBody>
          <a:bodyPr rtlCol="0" anchor="ctr" wrap="square" lIns="36576" tIns="36576" rIns="36576" bIns="36576">
            <a:no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"/>
              </a:rPr>
              <a:t>2024</a:t>
            </a:r>
          </a:p>
          <a:p>
            <a:pPr algn="ctr"/>
            <a:r>
              <a:rPr sz="1700" b="1" i="0">
                <a:solidFill>
                  <a:srgbClr val="FFFFFF"/>
                </a:solidFill>
                <a:latin typeface="Arial"/>
              </a:rPr>
              <a:t>Test</a:t>
            </a:r>
          </a:p>
          <a:p>
            <a:pPr algn="ctr"/>
            <a:r>
              <a:rPr sz="1500" b="0" i="0">
                <a:solidFill>
                  <a:srgbClr val="FFFFFF"/>
                </a:solidFill>
                <a:latin typeface="Arial"/>
              </a:rPr>
              <a:t>8.503 obs.</a:t>
            </a:r>
          </a:p>
        </p:txBody>
      </p:sp>
      <p:sp>
        <p:nvSpPr>
          <p:cNvPr id="65" name="Año 2025"/>
          <p:cNvSpPr/>
          <p:nvPr/>
        </p:nvSpPr>
        <p:spPr>
          <a:xfrm>
            <a:off x="7047738" y="15910559"/>
            <a:ext cx="1931670" cy="1417320"/>
          </a:xfrm>
          <a:prstGeom prst="roundRect">
            <a:avLst>
              <a:gd name="adj" fmla="val 10000"/>
            </a:avLst>
          </a:prstGeom>
          <a:solidFill>
            <a:srgbClr val="7C8BA1"/>
          </a:solidFill>
          <a:ln>
            <a:noFill/>
          </a:ln>
        </p:spPr>
        <p:txBody>
          <a:bodyPr rtlCol="0" anchor="ctr" wrap="square" lIns="36576" tIns="36576" rIns="36576" bIns="36576">
            <a:no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"/>
              </a:rPr>
              <a:t>2025</a:t>
            </a:r>
          </a:p>
          <a:p>
            <a:pPr algn="ctr"/>
            <a:r>
              <a:rPr sz="1700" b="1" i="0">
                <a:solidFill>
                  <a:srgbClr val="FFFFFF"/>
                </a:solidFill>
                <a:latin typeface="Arial"/>
              </a:rPr>
              <a:t>Solo label</a:t>
            </a:r>
          </a:p>
        </p:txBody>
      </p:sp>
      <p:cxnSp>
        <p:nvCxnSpPr>
          <p:cNvPr id="66" name="Llave"/>
          <p:cNvCxnSpPr/>
          <p:nvPr/>
        </p:nvCxnSpPr>
        <p:spPr>
          <a:xfrm>
            <a:off x="841248" y="17583912"/>
            <a:ext cx="4000500" cy="0"/>
          </a:xfrm>
          <a:prstGeom prst="line">
            <a:avLst/>
          </a:prstGeom>
          <a:ln w="31750">
            <a:solidFill>
              <a:srgbClr val="0284C7"/>
            </a:solidFill>
          </a:ln>
        </p:spPr>
      </p:cxnSp>
      <p:cxnSp>
        <p:nvCxnSpPr>
          <p:cNvPr id="67" name="Llave izquierda"/>
          <p:cNvCxnSpPr/>
          <p:nvPr/>
        </p:nvCxnSpPr>
        <p:spPr>
          <a:xfrm>
            <a:off x="841248" y="17437608"/>
            <a:ext cx="0" cy="146304"/>
          </a:xfrm>
          <a:prstGeom prst="line">
            <a:avLst/>
          </a:prstGeom>
          <a:ln w="31750">
            <a:solidFill>
              <a:srgbClr val="0284C7"/>
            </a:solidFill>
          </a:ln>
        </p:spPr>
      </p:cxnSp>
      <p:cxnSp>
        <p:nvCxnSpPr>
          <p:cNvPr id="68" name="Llave derecha"/>
          <p:cNvCxnSpPr/>
          <p:nvPr/>
        </p:nvCxnSpPr>
        <p:spPr>
          <a:xfrm>
            <a:off x="4841748" y="17437608"/>
            <a:ext cx="0" cy="146304"/>
          </a:xfrm>
          <a:prstGeom prst="line">
            <a:avLst/>
          </a:prstGeom>
          <a:ln w="31750">
            <a:solidFill>
              <a:srgbClr val="0284C7"/>
            </a:solidFill>
          </a:ln>
        </p:spPr>
      </p:cxnSp>
      <p:sp>
        <p:nvSpPr>
          <p:cNvPr id="69" name="Llave, texto"/>
          <p:cNvSpPr txBox="1"/>
          <p:nvPr/>
        </p:nvSpPr>
        <p:spPr>
          <a:xfrm>
            <a:off x="841248" y="17675352"/>
            <a:ext cx="8138160" cy="4114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sz="1900" b="1" i="0">
                <a:solidFill>
                  <a:srgbClr val="0284C7"/>
                </a:solidFill>
                <a:latin typeface="Arial"/>
              </a:rPr>
              <a:t>Train final: 2022 + 2023 (SMOTE aplicado solo al train)</a:t>
            </a:r>
          </a:p>
        </p:txBody>
      </p:sp>
      <p:sp>
        <p:nvSpPr>
          <p:cNvPr id="70" name="EDA, círculo"/>
          <p:cNvSpPr/>
          <p:nvPr/>
        </p:nvSpPr>
        <p:spPr>
          <a:xfrm>
            <a:off x="9820656" y="11311127"/>
            <a:ext cx="603504" cy="603504"/>
          </a:xfrm>
          <a:prstGeom prst="ellipse">
            <a:avLst/>
          </a:prstGeom>
          <a:solidFill>
            <a:srgbClr val="005BB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1" name="EDA, ícono" descr="chart-column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965496" y="11455968"/>
            <a:ext cx="313822" cy="313822"/>
          </a:xfrm>
          <a:prstGeom prst="rect">
            <a:avLst/>
          </a:prstGeom>
        </p:spPr>
      </p:pic>
      <p:sp>
        <p:nvSpPr>
          <p:cNvPr id="72" name="EDA, título"/>
          <p:cNvSpPr txBox="1"/>
          <p:nvPr/>
        </p:nvSpPr>
        <p:spPr>
          <a:xfrm>
            <a:off x="10588752" y="11219688"/>
            <a:ext cx="7370064" cy="7863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/>
            <a:r>
              <a:rPr sz="4000" b="1" i="0">
                <a:solidFill>
                  <a:srgbClr val="005BBB"/>
                </a:solidFill>
                <a:latin typeface="Arial"/>
              </a:rPr>
              <a:t>Análisis exploratorio</a:t>
            </a:r>
          </a:p>
        </p:txBody>
      </p:sp>
      <p:pic>
        <p:nvPicPr>
          <p:cNvPr id="76" name="Figura A" descr="Tasa de empresas con dificultades financieras por macrosector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820656" y="13871447"/>
            <a:ext cx="8138160" cy="3638018"/>
          </a:xfrm>
          <a:prstGeom prst="rect">
            <a:avLst/>
          </a:prstGeom>
        </p:spPr>
      </p:pic>
      <p:sp>
        <p:nvSpPr>
          <p:cNvPr id="78" name="Figura A, pie"/>
          <p:cNvSpPr txBox="1"/>
          <p:nvPr/>
        </p:nvSpPr>
        <p:spPr>
          <a:xfrm>
            <a:off x="9820656" y="17582617"/>
            <a:ext cx="8138160" cy="6858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sz="2000" b="1" i="0">
                <a:solidFill>
                  <a:srgbClr val="0E2841"/>
                </a:solidFill>
                <a:latin typeface="Arial"/>
              </a:rPr>
              <a:t>Tasa de dificultad por macrosector</a:t>
            </a:r>
          </a:p>
          <a:p>
            <a:pPr algn="l"/>
            <a:r>
              <a:rPr sz="1900" b="0" i="0">
                <a:solidFill>
                  <a:srgbClr val="5B6675"/>
                </a:solidFill>
                <a:latin typeface="Arial"/>
              </a:rPr>
              <a:t>15.3 % de dificultad en Minero frente a 3.2 % en Comercio</a:t>
            </a:r>
          </a:p>
        </p:txBody>
      </p:sp>
      <p:sp>
        <p:nvSpPr>
          <p:cNvPr id="92" name="Modelado, círculo"/>
          <p:cNvSpPr/>
          <p:nvPr/>
        </p:nvSpPr>
        <p:spPr>
          <a:xfrm>
            <a:off x="19046952" y="4407407"/>
            <a:ext cx="603504" cy="603504"/>
          </a:xfrm>
          <a:prstGeom prst="ellipse">
            <a:avLst/>
          </a:prstGeom>
          <a:solidFill>
            <a:srgbClr val="005BB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3" name="Modelado, ícono" descr="network-wire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191792" y="4552248"/>
            <a:ext cx="313822" cy="313822"/>
          </a:xfrm>
          <a:prstGeom prst="rect">
            <a:avLst/>
          </a:prstGeom>
        </p:spPr>
      </p:pic>
      <p:sp>
        <p:nvSpPr>
          <p:cNvPr id="94" name="Modelado, título"/>
          <p:cNvSpPr txBox="1"/>
          <p:nvPr/>
        </p:nvSpPr>
        <p:spPr>
          <a:xfrm>
            <a:off x="19815048" y="4315968"/>
            <a:ext cx="7370064" cy="7863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/>
            <a:r>
              <a:rPr sz="4000" b="1" i="0">
                <a:solidFill>
                  <a:srgbClr val="005BBB"/>
                </a:solidFill>
                <a:latin typeface="Arial"/>
              </a:rPr>
              <a:t>Modelado</a:t>
            </a:r>
          </a:p>
        </p:txBody>
      </p:sp>
      <p:sp>
        <p:nvSpPr>
          <p:cNvPr id="95" name="Proceso 1, círculo"/>
          <p:cNvSpPr/>
          <p:nvPr/>
        </p:nvSpPr>
        <p:spPr>
          <a:xfrm>
            <a:off x="19513295" y="5285232"/>
            <a:ext cx="1005840" cy="1005840"/>
          </a:xfrm>
          <a:prstGeom prst="ellipse">
            <a:avLst/>
          </a:prstGeom>
          <a:solidFill>
            <a:srgbClr val="005BB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6" name="Proceso 1, ícono" descr="scale-balanced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9764755" y="5536692"/>
            <a:ext cx="502920" cy="502920"/>
          </a:xfrm>
          <a:prstGeom prst="rect">
            <a:avLst/>
          </a:prstGeom>
        </p:spPr>
      </p:pic>
      <p:sp>
        <p:nvSpPr>
          <p:cNvPr id="97" name="Proceso 1, texto"/>
          <p:cNvSpPr txBox="1"/>
          <p:nvPr/>
        </p:nvSpPr>
        <p:spPr>
          <a:xfrm>
            <a:off x="19046952" y="6364224"/>
            <a:ext cx="1938528" cy="10058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/>
            <a:r>
              <a:rPr sz="2000" b="1" i="0">
                <a:solidFill>
                  <a:srgbClr val="0E2841"/>
                </a:solidFill>
                <a:latin typeface="Arial"/>
              </a:rPr>
              <a:t>SMOTE</a:t>
            </a:r>
          </a:p>
          <a:p>
            <a:pPr algn="ctr">
              <a:lnSpc>
                <a:spcPts val="1900"/>
              </a:lnSpc>
            </a:pPr>
            <a:r>
              <a:rPr sz="1600" b="0" i="0">
                <a:solidFill>
                  <a:srgbClr val="5B6675"/>
                </a:solidFill>
                <a:latin typeface="Arial"/>
              </a:rPr>
              <a:t>oversampling solo en train</a:t>
            </a:r>
          </a:p>
        </p:txBody>
      </p:sp>
      <p:pic>
        <p:nvPicPr>
          <p:cNvPr id="98" name="Proceso 1, flecha" descr="caret-right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0912327" y="5650992"/>
            <a:ext cx="274320" cy="274320"/>
          </a:xfrm>
          <a:prstGeom prst="rect">
            <a:avLst/>
          </a:prstGeom>
        </p:spPr>
      </p:pic>
      <p:sp>
        <p:nvSpPr>
          <p:cNvPr id="99" name="Proceso 2, círculo"/>
          <p:cNvSpPr/>
          <p:nvPr/>
        </p:nvSpPr>
        <p:spPr>
          <a:xfrm>
            <a:off x="21579839" y="5285232"/>
            <a:ext cx="1005840" cy="1005840"/>
          </a:xfrm>
          <a:prstGeom prst="ellipse">
            <a:avLst/>
          </a:prstGeom>
          <a:solidFill>
            <a:srgbClr val="005BB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0" name="Proceso 2, ícono" descr="layer-group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1831299" y="5536692"/>
            <a:ext cx="502920" cy="502920"/>
          </a:xfrm>
          <a:prstGeom prst="rect">
            <a:avLst/>
          </a:prstGeom>
        </p:spPr>
      </p:pic>
      <p:sp>
        <p:nvSpPr>
          <p:cNvPr id="101" name="Proceso 2, texto"/>
          <p:cNvSpPr txBox="1"/>
          <p:nvPr/>
        </p:nvSpPr>
        <p:spPr>
          <a:xfrm>
            <a:off x="21113496" y="6364224"/>
            <a:ext cx="1938528" cy="10058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/>
            <a:r>
              <a:rPr sz="2000" b="1" i="0">
                <a:solidFill>
                  <a:srgbClr val="0E2841"/>
                </a:solidFill>
                <a:latin typeface="Arial"/>
              </a:rPr>
              <a:t>8 classifiers</a:t>
            </a:r>
          </a:p>
          <a:p>
            <a:pPr algn="ctr">
              <a:lnSpc>
                <a:spcPts val="1900"/>
              </a:lnSpc>
            </a:pPr>
            <a:r>
              <a:rPr sz="1600" b="0" i="0">
                <a:solidFill>
                  <a:srgbClr val="5B6675"/>
                </a:solidFill>
                <a:latin typeface="Arial"/>
              </a:rPr>
              <a:t>evaluados en test 2024</a:t>
            </a:r>
          </a:p>
        </p:txBody>
      </p:sp>
      <p:pic>
        <p:nvPicPr>
          <p:cNvPr id="102" name="Proceso 2, flecha" descr="caret-right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2978872" y="5650992"/>
            <a:ext cx="274320" cy="274320"/>
          </a:xfrm>
          <a:prstGeom prst="rect">
            <a:avLst/>
          </a:prstGeom>
        </p:spPr>
      </p:pic>
      <p:sp>
        <p:nvSpPr>
          <p:cNvPr id="103" name="Proceso 3, círculo"/>
          <p:cNvSpPr/>
          <p:nvPr/>
        </p:nvSpPr>
        <p:spPr>
          <a:xfrm>
            <a:off x="23646383" y="5285232"/>
            <a:ext cx="1005840" cy="1005840"/>
          </a:xfrm>
          <a:prstGeom prst="ellipse">
            <a:avLst/>
          </a:prstGeom>
          <a:solidFill>
            <a:srgbClr val="005BB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4" name="Proceso 3, ícono" descr="sliders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3897843" y="5536692"/>
            <a:ext cx="502920" cy="502920"/>
          </a:xfrm>
          <a:prstGeom prst="rect">
            <a:avLst/>
          </a:prstGeom>
        </p:spPr>
      </p:pic>
      <p:sp>
        <p:nvSpPr>
          <p:cNvPr id="105" name="Proceso 3, texto"/>
          <p:cNvSpPr txBox="1"/>
          <p:nvPr/>
        </p:nvSpPr>
        <p:spPr>
          <a:xfrm>
            <a:off x="23180039" y="6364224"/>
            <a:ext cx="1938528" cy="10058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/>
            <a:r>
              <a:rPr sz="2000" b="1" i="0">
                <a:solidFill>
                  <a:srgbClr val="0E2841"/>
                </a:solidFill>
                <a:latin typeface="Arial"/>
              </a:rPr>
              <a:t>Tuning</a:t>
            </a:r>
          </a:p>
          <a:p>
            <a:pPr algn="ctr">
              <a:lnSpc>
                <a:spcPts val="1900"/>
              </a:lnSpc>
            </a:pPr>
            <a:r>
              <a:rPr sz="1600" b="0" i="0">
                <a:solidFill>
                  <a:srgbClr val="5B6675"/>
                </a:solidFill>
                <a:latin typeface="Arial"/>
              </a:rPr>
              <a:t>grid search y Optuna</a:t>
            </a:r>
          </a:p>
        </p:txBody>
      </p:sp>
      <p:pic>
        <p:nvPicPr>
          <p:cNvPr id="106" name="Proceso 3, flecha" descr="caret-right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5045415" y="5650992"/>
            <a:ext cx="274320" cy="274320"/>
          </a:xfrm>
          <a:prstGeom prst="rect">
            <a:avLst/>
          </a:prstGeom>
        </p:spPr>
      </p:pic>
      <p:sp>
        <p:nvSpPr>
          <p:cNvPr id="107" name="Proceso 4, círculo"/>
          <p:cNvSpPr/>
          <p:nvPr/>
        </p:nvSpPr>
        <p:spPr>
          <a:xfrm>
            <a:off x="25712927" y="5285232"/>
            <a:ext cx="1005840" cy="1005840"/>
          </a:xfrm>
          <a:prstGeom prst="ellipse">
            <a:avLst/>
          </a:prstGeom>
          <a:solidFill>
            <a:srgbClr val="C96A0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8" name="Proceso 4, ícono" descr="bell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5964387" y="5536692"/>
            <a:ext cx="502920" cy="502920"/>
          </a:xfrm>
          <a:prstGeom prst="rect">
            <a:avLst/>
          </a:prstGeom>
        </p:spPr>
      </p:pic>
      <p:sp>
        <p:nvSpPr>
          <p:cNvPr id="109" name="Proceso 4, texto"/>
          <p:cNvSpPr txBox="1"/>
          <p:nvPr/>
        </p:nvSpPr>
        <p:spPr>
          <a:xfrm>
            <a:off x="25246584" y="6364224"/>
            <a:ext cx="1938528" cy="100584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/>
            <a:r>
              <a:rPr sz="2000" b="1" i="0">
                <a:solidFill>
                  <a:srgbClr val="0E2841"/>
                </a:solidFill>
                <a:latin typeface="Arial"/>
              </a:rPr>
              <a:t>Threshold</a:t>
            </a:r>
          </a:p>
          <a:p>
            <a:pPr algn="ctr">
              <a:lnSpc>
                <a:spcPts val="1900"/>
              </a:lnSpc>
            </a:pPr>
            <a:r>
              <a:rPr sz="1600" b="0" i="0">
                <a:solidFill>
                  <a:srgbClr val="5B6675"/>
                </a:solidFill>
                <a:latin typeface="Arial"/>
              </a:rPr>
              <a:t>top 10 % = alerta</a:t>
            </a:r>
          </a:p>
        </p:txBody>
      </p:sp>
      <p:graphicFrame>
        <p:nvGraphicFramePr>
          <p:cNvPr id="110" name="Gráfico AUC por modelo"/>
          <p:cNvGraphicFramePr>
            <a:graphicFrameLocks noGrp="1"/>
          </p:cNvGraphicFramePr>
          <p:nvPr/>
        </p:nvGraphicFramePr>
        <p:xfrm>
          <a:off x="19046952" y="15361920"/>
          <a:ext cx="8138160" cy="3291839"/>
        </p:xfrm>
        <a:graphic>
          <a:graphicData uri="http://schemas.openxmlformats.org/drawingml/2006/chart">
            <c:chart xmlns:c="http://schemas.openxmlformats.org/drawingml/2006/chart" r:id="rId25"/>
          </a:graphicData>
        </a:graphic>
      </p:graphicFrame>
      <p:cxnSp>
        <p:nvCxnSpPr>
          <p:cNvPr id="111" name="Separador 3"/>
          <p:cNvCxnSpPr/>
          <p:nvPr/>
        </p:nvCxnSpPr>
        <p:spPr>
          <a:xfrm>
            <a:off x="19046952" y="14356080"/>
            <a:ext cx="8138159" cy="0"/>
          </a:xfrm>
          <a:prstGeom prst="line">
            <a:avLst/>
          </a:prstGeom>
          <a:ln w="25400">
            <a:solidFill>
              <a:srgbClr val="000000"/>
            </a:solidFill>
            <a:prstDash val="dash"/>
          </a:ln>
        </p:spPr>
      </p:cxnSp>
      <p:sp>
        <p:nvSpPr>
          <p:cNvPr id="112" name="Resultados, círculo"/>
          <p:cNvSpPr/>
          <p:nvPr/>
        </p:nvSpPr>
        <p:spPr>
          <a:xfrm>
            <a:off x="19046952" y="14584680"/>
            <a:ext cx="603504" cy="603504"/>
          </a:xfrm>
          <a:prstGeom prst="ellipse">
            <a:avLst/>
          </a:prstGeom>
          <a:solidFill>
            <a:srgbClr val="005BB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3" name="Resultados, ícono" descr="bullseye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9191792" y="14729520"/>
            <a:ext cx="313822" cy="313822"/>
          </a:xfrm>
          <a:prstGeom prst="rect">
            <a:avLst/>
          </a:prstGeom>
        </p:spPr>
      </p:pic>
      <p:sp>
        <p:nvSpPr>
          <p:cNvPr id="114" name="Resultados, título"/>
          <p:cNvSpPr txBox="1"/>
          <p:nvPr/>
        </p:nvSpPr>
        <p:spPr>
          <a:xfrm>
            <a:off x="19815048" y="14493240"/>
            <a:ext cx="7370064" cy="7863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/>
            <a:r>
              <a:rPr sz="4000" b="1" i="0">
                <a:solidFill>
                  <a:srgbClr val="005BBB"/>
                </a:solidFill>
                <a:latin typeface="Arial"/>
              </a:rPr>
              <a:t>Resultados</a:t>
            </a:r>
          </a:p>
        </p:txBody>
      </p:sp>
      <p:sp>
        <p:nvSpPr>
          <p:cNvPr id="115" name="Matriz, subtítulo"/>
          <p:cNvSpPr txBox="1"/>
          <p:nvPr/>
        </p:nvSpPr>
        <p:spPr>
          <a:xfrm>
            <a:off x="28337256" y="4361687"/>
            <a:ext cx="8138160" cy="457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sz="2200" b="1" i="0">
                <a:solidFill>
                  <a:srgbClr val="0E2841"/>
                </a:solidFill>
                <a:latin typeface="Arial"/>
              </a:rPr>
              <a:t>Confusion matrix: Neural Network (test 2024)</a:t>
            </a:r>
          </a:p>
        </p:txBody>
      </p:sp>
      <p:sp>
        <p:nvSpPr>
          <p:cNvPr id="116" name="Matriz, columna 1"/>
          <p:cNvSpPr txBox="1"/>
          <p:nvPr/>
        </p:nvSpPr>
        <p:spPr>
          <a:xfrm>
            <a:off x="30348935" y="4855463"/>
            <a:ext cx="3063240" cy="566928"/>
          </a:xfrm>
          <a:prstGeom prst="rect">
            <a:avLst/>
          </a:prstGeom>
          <a:noFill/>
        </p:spPr>
        <p:txBody>
          <a:bodyPr wrap="square" anchor="b" lIns="0" tIns="0" rIns="0" bIns="0">
            <a:noAutofit/>
          </a:bodyPr>
          <a:lstStyle/>
          <a:p>
            <a:pPr algn="ctr"/>
            <a:r>
              <a:rPr sz="1500" b="0" i="0">
                <a:solidFill>
                  <a:srgbClr val="5B6675"/>
                </a:solidFill>
                <a:latin typeface="Arial"/>
              </a:rPr>
              <a:t>Predicted</a:t>
            </a:r>
          </a:p>
          <a:p>
            <a:pPr algn="ctr"/>
            <a:r>
              <a:rPr sz="1900" b="1" i="0">
                <a:solidFill>
                  <a:srgbClr val="5B6675"/>
                </a:solidFill>
                <a:latin typeface="Arial"/>
              </a:rPr>
              <a:t>Sin alerta</a:t>
            </a:r>
          </a:p>
        </p:txBody>
      </p:sp>
      <p:sp>
        <p:nvSpPr>
          <p:cNvPr id="117" name="Matriz, columna 2"/>
          <p:cNvSpPr txBox="1"/>
          <p:nvPr/>
        </p:nvSpPr>
        <p:spPr>
          <a:xfrm>
            <a:off x="33412176" y="4855463"/>
            <a:ext cx="3063240" cy="566928"/>
          </a:xfrm>
          <a:prstGeom prst="rect">
            <a:avLst/>
          </a:prstGeom>
          <a:noFill/>
        </p:spPr>
        <p:txBody>
          <a:bodyPr wrap="square" anchor="b" lIns="0" tIns="0" rIns="0" bIns="0">
            <a:noAutofit/>
          </a:bodyPr>
          <a:lstStyle/>
          <a:p>
            <a:pPr algn="ctr"/>
            <a:r>
              <a:rPr sz="1500" b="0" i="0">
                <a:solidFill>
                  <a:srgbClr val="5B6675"/>
                </a:solidFill>
                <a:latin typeface="Arial"/>
              </a:rPr>
              <a:t>Predicted</a:t>
            </a:r>
          </a:p>
          <a:p>
            <a:pPr algn="ctr"/>
            <a:r>
              <a:rPr sz="1900" b="1" i="0">
                <a:solidFill>
                  <a:srgbClr val="5B6675"/>
                </a:solidFill>
                <a:latin typeface="Arial"/>
              </a:rPr>
              <a:t>Con alerta</a:t>
            </a:r>
          </a:p>
        </p:txBody>
      </p:sp>
      <p:sp>
        <p:nvSpPr>
          <p:cNvPr id="118" name="Matriz, fila 1"/>
          <p:cNvSpPr txBox="1"/>
          <p:nvPr/>
        </p:nvSpPr>
        <p:spPr>
          <a:xfrm>
            <a:off x="28337256" y="5458967"/>
            <a:ext cx="1847088" cy="128016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/>
            <a:r>
              <a:rPr sz="1500" b="0" i="0">
                <a:solidFill>
                  <a:srgbClr val="5B6675"/>
                </a:solidFill>
                <a:latin typeface="Arial"/>
              </a:rPr>
              <a:t>Actual</a:t>
            </a:r>
          </a:p>
          <a:p>
            <a:pPr algn="r"/>
            <a:r>
              <a:rPr sz="1900" b="1" i="0">
                <a:solidFill>
                  <a:srgbClr val="5B6675"/>
                </a:solidFill>
                <a:latin typeface="Arial"/>
              </a:rPr>
              <a:t>Sin dificultad</a:t>
            </a:r>
          </a:p>
        </p:txBody>
      </p:sp>
      <p:sp>
        <p:nvSpPr>
          <p:cNvPr id="119" name="Matriz, celda 11"/>
          <p:cNvSpPr/>
          <p:nvPr/>
        </p:nvSpPr>
        <p:spPr>
          <a:xfrm>
            <a:off x="30348935" y="5458967"/>
            <a:ext cx="2990088" cy="1280160"/>
          </a:xfrm>
          <a:prstGeom prst="roundRect">
            <a:avLst>
              <a:gd name="adj" fmla="val 5000"/>
            </a:avLst>
          </a:prstGeom>
          <a:solidFill>
            <a:srgbClr val="0B4285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Arial"/>
              </a:rPr>
              <a:t>7.507</a:t>
            </a:r>
          </a:p>
          <a:p>
            <a:pPr algn="ctr"/>
            <a:r>
              <a:rPr sz="1700" b="0" i="0">
                <a:solidFill>
                  <a:srgbClr val="FFFFFF"/>
                </a:solidFill>
                <a:latin typeface="Arial"/>
              </a:rPr>
              <a:t>TN  ·  93.1 %</a:t>
            </a:r>
          </a:p>
        </p:txBody>
      </p:sp>
      <p:sp>
        <p:nvSpPr>
          <p:cNvPr id="120" name="Matriz, celda 12"/>
          <p:cNvSpPr/>
          <p:nvPr/>
        </p:nvSpPr>
        <p:spPr>
          <a:xfrm>
            <a:off x="33485327" y="5458967"/>
            <a:ext cx="3063240" cy="1280160"/>
          </a:xfrm>
          <a:prstGeom prst="roundRect">
            <a:avLst>
              <a:gd name="adj" fmla="val 5000"/>
            </a:avLst>
          </a:prstGeom>
          <a:solidFill>
            <a:srgbClr val="E6EFF9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3400" b="1" i="0">
                <a:solidFill>
                  <a:srgbClr val="0E2841"/>
                </a:solidFill>
                <a:latin typeface="Arial"/>
              </a:rPr>
              <a:t>555</a:t>
            </a:r>
          </a:p>
          <a:p>
            <a:pPr algn="ctr"/>
            <a:r>
              <a:rPr sz="1700" b="0" i="0">
                <a:solidFill>
                  <a:srgbClr val="0E2841"/>
                </a:solidFill>
                <a:latin typeface="Arial"/>
              </a:rPr>
              <a:t>FP  ·  6.9 %</a:t>
            </a:r>
          </a:p>
        </p:txBody>
      </p:sp>
      <p:sp>
        <p:nvSpPr>
          <p:cNvPr id="121" name="Matriz, fila 2"/>
          <p:cNvSpPr txBox="1"/>
          <p:nvPr/>
        </p:nvSpPr>
        <p:spPr>
          <a:xfrm>
            <a:off x="28337256" y="6830567"/>
            <a:ext cx="1847088" cy="128016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/>
            <a:r>
              <a:rPr sz="1500" b="0" i="0">
                <a:solidFill>
                  <a:srgbClr val="5B6675"/>
                </a:solidFill>
                <a:latin typeface="Arial"/>
              </a:rPr>
              <a:t>Actual</a:t>
            </a:r>
          </a:p>
          <a:p>
            <a:pPr algn="r"/>
            <a:r>
              <a:rPr sz="1900" b="1" i="0">
                <a:solidFill>
                  <a:srgbClr val="5B6675"/>
                </a:solidFill>
                <a:latin typeface="Arial"/>
              </a:rPr>
              <a:t>En dificultad</a:t>
            </a:r>
          </a:p>
        </p:txBody>
      </p:sp>
      <p:sp>
        <p:nvSpPr>
          <p:cNvPr id="122" name="Matriz, celda 21"/>
          <p:cNvSpPr/>
          <p:nvPr/>
        </p:nvSpPr>
        <p:spPr>
          <a:xfrm>
            <a:off x="30348935" y="6830567"/>
            <a:ext cx="2990088" cy="1280160"/>
          </a:xfrm>
          <a:prstGeom prst="roundRect">
            <a:avLst>
              <a:gd name="adj" fmla="val 5000"/>
            </a:avLst>
          </a:prstGeom>
          <a:solidFill>
            <a:srgbClr val="B3D1E8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3400" b="1" i="0">
                <a:solidFill>
                  <a:srgbClr val="0E2841"/>
                </a:solidFill>
                <a:latin typeface="Arial"/>
              </a:rPr>
              <a:t>146</a:t>
            </a:r>
          </a:p>
          <a:p>
            <a:pPr algn="ctr"/>
            <a:r>
              <a:rPr sz="1700" b="0" i="0">
                <a:solidFill>
                  <a:srgbClr val="0E2841"/>
                </a:solidFill>
                <a:latin typeface="Arial"/>
              </a:rPr>
              <a:t>FN  ·  33.1 %</a:t>
            </a:r>
          </a:p>
        </p:txBody>
      </p:sp>
      <p:sp>
        <p:nvSpPr>
          <p:cNvPr id="123" name="Matriz, celda 22"/>
          <p:cNvSpPr/>
          <p:nvPr/>
        </p:nvSpPr>
        <p:spPr>
          <a:xfrm>
            <a:off x="33485327" y="6830567"/>
            <a:ext cx="3063240" cy="1280160"/>
          </a:xfrm>
          <a:prstGeom prst="roundRect">
            <a:avLst>
              <a:gd name="adj" fmla="val 5000"/>
            </a:avLst>
          </a:prstGeom>
          <a:solidFill>
            <a:srgbClr val="2F7EC1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Arial"/>
              </a:rPr>
              <a:t>295</a:t>
            </a:r>
          </a:p>
          <a:p>
            <a:pPr algn="ctr"/>
            <a:r>
              <a:rPr sz="1700" b="0" i="0">
                <a:solidFill>
                  <a:srgbClr val="FFFFFF"/>
                </a:solidFill>
                <a:latin typeface="Arial"/>
              </a:rPr>
              <a:t>TP  ·  66.9 %</a:t>
            </a:r>
          </a:p>
        </p:txBody>
      </p:sp>
      <p:sp>
        <p:nvSpPr>
          <p:cNvPr id="124" name="Métrica AUC-ROC"/>
          <p:cNvSpPr/>
          <p:nvPr/>
        </p:nvSpPr>
        <p:spPr>
          <a:xfrm>
            <a:off x="28337256" y="8385047"/>
            <a:ext cx="1931670" cy="1097280"/>
          </a:xfrm>
          <a:prstGeom prst="roundRect">
            <a:avLst>
              <a:gd name="adj" fmla="val 12000"/>
            </a:avLst>
          </a:prstGeom>
          <a:solidFill>
            <a:srgbClr val="EEF3FA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2800" b="1" i="0">
                <a:solidFill>
                  <a:srgbClr val="005BBB"/>
                </a:solidFill>
                <a:latin typeface="Arial"/>
              </a:rPr>
              <a:t>0.904</a:t>
            </a:r>
          </a:p>
          <a:p>
            <a:pPr algn="ctr"/>
            <a:r>
              <a:rPr sz="1600" b="0" i="0">
                <a:solidFill>
                  <a:srgbClr val="5B6675"/>
                </a:solidFill>
                <a:latin typeface="Arial"/>
              </a:rPr>
              <a:t>AUC-ROC</a:t>
            </a:r>
          </a:p>
        </p:txBody>
      </p:sp>
      <p:sp>
        <p:nvSpPr>
          <p:cNvPr id="125" name="Métrica Accuracy"/>
          <p:cNvSpPr/>
          <p:nvPr/>
        </p:nvSpPr>
        <p:spPr>
          <a:xfrm>
            <a:off x="30406085" y="8385047"/>
            <a:ext cx="1931670" cy="1097280"/>
          </a:xfrm>
          <a:prstGeom prst="roundRect">
            <a:avLst>
              <a:gd name="adj" fmla="val 12000"/>
            </a:avLst>
          </a:prstGeom>
          <a:solidFill>
            <a:srgbClr val="EEF3FA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2800" b="1" i="0">
                <a:solidFill>
                  <a:srgbClr val="005BBB"/>
                </a:solidFill>
                <a:latin typeface="Arial"/>
              </a:rPr>
              <a:t>0.918</a:t>
            </a:r>
          </a:p>
          <a:p>
            <a:pPr algn="ctr"/>
            <a:r>
              <a:rPr sz="1600" b="0" i="0">
                <a:solidFill>
                  <a:srgbClr val="5B6675"/>
                </a:solidFill>
                <a:latin typeface="Arial"/>
              </a:rPr>
              <a:t>Accuracy</a:t>
            </a:r>
          </a:p>
        </p:txBody>
      </p:sp>
      <p:sp>
        <p:nvSpPr>
          <p:cNvPr id="126" name="Métrica Precision"/>
          <p:cNvSpPr/>
          <p:nvPr/>
        </p:nvSpPr>
        <p:spPr>
          <a:xfrm>
            <a:off x="32474915" y="8385047"/>
            <a:ext cx="1931670" cy="1097280"/>
          </a:xfrm>
          <a:prstGeom prst="roundRect">
            <a:avLst>
              <a:gd name="adj" fmla="val 12000"/>
            </a:avLst>
          </a:prstGeom>
          <a:solidFill>
            <a:srgbClr val="EEF3FA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2800" b="1" i="0">
                <a:solidFill>
                  <a:srgbClr val="005BBB"/>
                </a:solidFill>
                <a:latin typeface="Arial"/>
              </a:rPr>
              <a:t>0.347</a:t>
            </a:r>
          </a:p>
          <a:p>
            <a:pPr algn="ctr"/>
            <a:r>
              <a:rPr sz="1600" b="0" i="0">
                <a:solidFill>
                  <a:srgbClr val="5B6675"/>
                </a:solidFill>
                <a:latin typeface="Arial"/>
              </a:rPr>
              <a:t>Precision</a:t>
            </a:r>
          </a:p>
        </p:txBody>
      </p:sp>
      <p:sp>
        <p:nvSpPr>
          <p:cNvPr id="127" name="Métrica Recall"/>
          <p:cNvSpPr/>
          <p:nvPr/>
        </p:nvSpPr>
        <p:spPr>
          <a:xfrm>
            <a:off x="34543746" y="8385047"/>
            <a:ext cx="1931670" cy="1097280"/>
          </a:xfrm>
          <a:prstGeom prst="roundRect">
            <a:avLst>
              <a:gd name="adj" fmla="val 12000"/>
            </a:avLst>
          </a:prstGeom>
          <a:solidFill>
            <a:srgbClr val="EEF3FA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/>
            <a:r>
              <a:rPr sz="2800" b="1" i="0">
                <a:solidFill>
                  <a:srgbClr val="005BBB"/>
                </a:solidFill>
                <a:latin typeface="Arial"/>
              </a:rPr>
              <a:t>0.669</a:t>
            </a:r>
          </a:p>
          <a:p>
            <a:pPr algn="ctr"/>
            <a:r>
              <a:rPr sz="1600" b="0" i="0">
                <a:solidFill>
                  <a:srgbClr val="5B6675"/>
                </a:solidFill>
                <a:latin typeface="Arial"/>
              </a:rPr>
              <a:t>Recall</a:t>
            </a:r>
          </a:p>
        </p:txBody>
      </p:sp>
      <p:sp>
        <p:nvSpPr>
          <p:cNvPr id="128" name="Conclusiones, círculo"/>
          <p:cNvSpPr/>
          <p:nvPr/>
        </p:nvSpPr>
        <p:spPr>
          <a:xfrm>
            <a:off x="28337256" y="10076687"/>
            <a:ext cx="603504" cy="603504"/>
          </a:xfrm>
          <a:prstGeom prst="ellipse">
            <a:avLst/>
          </a:prstGeom>
          <a:solidFill>
            <a:srgbClr val="005BB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9" name="Conclusiones, ícono" descr="list-check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28482096" y="10221528"/>
            <a:ext cx="313822" cy="313822"/>
          </a:xfrm>
          <a:prstGeom prst="rect">
            <a:avLst/>
          </a:prstGeom>
        </p:spPr>
      </p:pic>
      <p:sp>
        <p:nvSpPr>
          <p:cNvPr id="130" name="Conclusiones, título"/>
          <p:cNvSpPr txBox="1"/>
          <p:nvPr/>
        </p:nvSpPr>
        <p:spPr>
          <a:xfrm>
            <a:off x="29105352" y="9985248"/>
            <a:ext cx="7370064" cy="7863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/>
            <a:r>
              <a:rPr sz="4000" b="1" i="0">
                <a:solidFill>
                  <a:srgbClr val="005BBB"/>
                </a:solidFill>
                <a:latin typeface="Arial"/>
              </a:rPr>
              <a:t>Conclusiones</a:t>
            </a:r>
          </a:p>
        </p:txBody>
      </p:sp>
      <p:sp>
        <p:nvSpPr>
          <p:cNvPr id="137" name="Conclusión 1, círculo"/>
          <p:cNvSpPr/>
          <p:nvPr/>
        </p:nvSpPr>
        <p:spPr>
          <a:xfrm>
            <a:off x="28337256" y="11036807"/>
            <a:ext cx="768096" cy="768096"/>
          </a:xfrm>
          <a:prstGeom prst="ellipse">
            <a:avLst/>
          </a:prstGeom>
          <a:solidFill>
            <a:srgbClr val="005BB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8" name="Conclusión 1, ícono" descr="gauge-high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28521600" y="11221150"/>
            <a:ext cx="399409" cy="399409"/>
          </a:xfrm>
          <a:prstGeom prst="rect">
            <a:avLst/>
          </a:prstGeom>
        </p:spPr>
      </p:pic>
      <p:sp>
        <p:nvSpPr>
          <p:cNvPr id="139" name="Conclusión 1, texto"/>
          <p:cNvSpPr txBox="1"/>
          <p:nvPr/>
        </p:nvSpPr>
        <p:spPr>
          <a:xfrm>
            <a:off x="29306521" y="10945367"/>
            <a:ext cx="7114032" cy="1600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/>
            <a:r>
              <a:rPr sz="2400" b="1" i="0">
                <a:solidFill>
                  <a:srgbClr val="0E2841"/>
                </a:solidFill>
                <a:latin typeface="Arial"/>
              </a:rPr>
              <a:t>La Neural Network es el mejor modelo</a:t>
            </a:r>
          </a:p>
          <a:p>
            <a:pPr algn="l">
              <a:spcBef>
                <a:spcPts val="200"/>
              </a:spcBef>
            </a:pPr>
            <a:r>
              <a:rPr sz="2000" b="0" i="0">
                <a:solidFill>
                  <a:srgbClr val="5B6675"/>
                </a:solidFill>
                <a:latin typeface="Arial"/>
              </a:rPr>
              <a:t>Alcanza un AUC-ROC de 0.904 en test, seguida de cerca por Random Forest con 0.901. Con el threshold del 10 % logra un Recall de 66.9 % y una Precision de 34.7 %.</a:t>
            </a:r>
          </a:p>
        </p:txBody>
      </p:sp>
      <p:cxnSp>
        <p:nvCxnSpPr>
          <p:cNvPr id="156" name="Separador 4"/>
          <p:cNvCxnSpPr/>
          <p:nvPr/>
        </p:nvCxnSpPr>
        <p:spPr>
          <a:xfrm>
            <a:off x="28337256" y="15928847"/>
            <a:ext cx="8138160" cy="0"/>
          </a:xfrm>
          <a:prstGeom prst="line">
            <a:avLst/>
          </a:prstGeom>
          <a:ln w="25400">
            <a:solidFill>
              <a:srgbClr val="000000"/>
            </a:solidFill>
            <a:prstDash val="dash"/>
          </a:ln>
        </p:spPr>
      </p:cxnSp>
      <p:sp>
        <p:nvSpPr>
          <p:cNvPr id="157" name="Referencia, círculo"/>
          <p:cNvSpPr/>
          <p:nvPr/>
        </p:nvSpPr>
        <p:spPr>
          <a:xfrm>
            <a:off x="28337256" y="16066007"/>
            <a:ext cx="603504" cy="603504"/>
          </a:xfrm>
          <a:prstGeom prst="ellipse">
            <a:avLst/>
          </a:prstGeom>
          <a:solidFill>
            <a:srgbClr val="005BB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8" name="Referencia, ícono" descr="book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28482096" y="16210847"/>
            <a:ext cx="313822" cy="313822"/>
          </a:xfrm>
          <a:prstGeom prst="rect">
            <a:avLst/>
          </a:prstGeom>
        </p:spPr>
      </p:pic>
      <p:sp>
        <p:nvSpPr>
          <p:cNvPr id="159" name="Referencia, título"/>
          <p:cNvSpPr txBox="1"/>
          <p:nvPr/>
        </p:nvSpPr>
        <p:spPr>
          <a:xfrm>
            <a:off x="29105352" y="15974567"/>
            <a:ext cx="7370064" cy="7863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/>
            <a:r>
              <a:rPr sz="4000" b="1" i="0">
                <a:solidFill>
                  <a:srgbClr val="005BBB"/>
                </a:solidFill>
                <a:latin typeface="Arial"/>
              </a:rPr>
              <a:t>Referencia</a:t>
            </a:r>
          </a:p>
        </p:txBody>
      </p:sp>
      <p:sp>
        <p:nvSpPr>
          <p:cNvPr id="160" name="Referencia, texto"/>
          <p:cNvSpPr txBox="1"/>
          <p:nvPr/>
        </p:nvSpPr>
        <p:spPr>
          <a:xfrm>
            <a:off x="28337256" y="16843247"/>
            <a:ext cx="8138160" cy="1810512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2400"/>
              </a:lnSpc>
            </a:pPr>
            <a:r>
              <a:rPr sz="1900" b="0" i="0">
                <a:solidFill>
                  <a:srgbClr val="404040"/>
                </a:solidFill>
                <a:latin typeface="Arial"/>
              </a:rPr>
              <a:t>Superintendencia de Sociedades. </a:t>
            </a:r>
            <a:r>
              <a:rPr sz="1900" b="0" i="1">
                <a:solidFill>
                  <a:srgbClr val="404040"/>
                </a:solidFill>
                <a:latin typeface="Arial"/>
              </a:rPr>
              <a:t>10.000 Empresas más Grandes del País</a:t>
            </a:r>
            <a:r>
              <a:rPr sz="1900" b="0" i="0">
                <a:solidFill>
                  <a:srgbClr val="404040"/>
                </a:solidFill>
                <a:latin typeface="Arial"/>
              </a:rPr>
              <a:t> [Conjunto de datos]. Datos Abiertos Colombia (reto Datos al Ecosistema 2025, MinTIC). Consultado el 8 de octubre de 2026. </a:t>
            </a:r>
            <a:r>
              <a:rPr sz="1900" b="0" i="0">
                <a:solidFill>
                  <a:srgbClr val="005BBB"/>
                </a:solidFill>
                <a:latin typeface="Arial"/>
                <a:hlinkClick r:id="rId32"/>
              </a:rPr>
              <a:t>datos.gov.co (6cat-2gcs)</a:t>
            </a:r>
          </a:p>
        </p:txBody>
      </p:sp>
      <p:sp>
        <p:nvSpPr>
          <p:cNvPr id="161" name="Tarea, círculo"/>
          <p:cNvSpPr/>
          <p:nvPr/>
        </p:nvSpPr>
        <p:spPr>
          <a:xfrm>
            <a:off x="859536" y="9079992"/>
            <a:ext cx="548640" cy="548640"/>
          </a:xfrm>
          <a:prstGeom prst="ellipse">
            <a:avLst/>
          </a:prstGeom>
          <a:solidFill>
            <a:srgbClr val="005BB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2" name="Tarea, ícono" descr="sliders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87552" y="9208008"/>
            <a:ext cx="292608" cy="292608"/>
          </a:xfrm>
          <a:prstGeom prst="rect">
            <a:avLst/>
          </a:prstGeom>
        </p:spPr>
      </p:pic>
      <p:sp>
        <p:nvSpPr>
          <p:cNvPr id="163" name="Tarea, texto"/>
          <p:cNvSpPr txBox="1"/>
          <p:nvPr/>
        </p:nvSpPr>
        <p:spPr>
          <a:xfrm>
            <a:off x="1527048" y="9052560"/>
            <a:ext cx="7452360" cy="6858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sz="1900" b="1" i="0">
                <a:solidFill>
                  <a:srgbClr val="0E2841"/>
                </a:solidFill>
                <a:latin typeface="Arial"/>
              </a:rPr>
              <a:t>Tarea: binary classification (supervised learning)</a:t>
            </a:r>
          </a:p>
          <a:p>
            <a:pPr algn="l"/>
            <a:r>
              <a:rPr sz="1700" b="0" i="0">
                <a:solidFill>
                  <a:srgbClr val="5B6675"/>
                </a:solidFill>
                <a:latin typeface="Arial"/>
              </a:rPr>
              <a:t>Optimización: búsqueda de hiperparámetros con grid search y Optuna</a:t>
            </a:r>
          </a:p>
        </p:txBody>
      </p:sp>
      <p:sp>
        <p:nvSpPr>
          <p:cNvPr id="164" name="Base, círculo"/>
          <p:cNvSpPr/>
          <p:nvPr/>
        </p:nvSpPr>
        <p:spPr>
          <a:xfrm>
            <a:off x="9820656" y="4407407"/>
            <a:ext cx="603504" cy="603504"/>
          </a:xfrm>
          <a:prstGeom prst="ellipse">
            <a:avLst/>
          </a:prstGeom>
          <a:solidFill>
            <a:srgbClr val="005BB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5" name="Base, ícono" descr="image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9965496" y="4552248"/>
            <a:ext cx="313822" cy="313822"/>
          </a:xfrm>
          <a:prstGeom prst="rect">
            <a:avLst/>
          </a:prstGeom>
        </p:spPr>
      </p:pic>
      <p:sp>
        <p:nvSpPr>
          <p:cNvPr id="166" name="Base, título"/>
          <p:cNvSpPr txBox="1"/>
          <p:nvPr/>
        </p:nvSpPr>
        <p:spPr>
          <a:xfrm>
            <a:off x="10588752" y="4315968"/>
            <a:ext cx="7370064" cy="7863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/>
            <a:r>
              <a:rPr sz="4000" b="1" i="0">
                <a:solidFill>
                  <a:srgbClr val="005BBB"/>
                </a:solidFill>
                <a:latin typeface="Arial"/>
              </a:rPr>
              <a:t>Base de datos</a:t>
            </a:r>
          </a:p>
        </p:txBody>
      </p:sp>
      <p:sp>
        <p:nvSpPr>
          <p:cNvPr id="167" name="Tamaño 1"/>
          <p:cNvSpPr/>
          <p:nvPr/>
        </p:nvSpPr>
        <p:spPr>
          <a:xfrm>
            <a:off x="9820656" y="6236207"/>
            <a:ext cx="2621280" cy="1051560"/>
          </a:xfrm>
          <a:prstGeom prst="roundRect">
            <a:avLst>
              <a:gd name="adj" fmla="val 7000"/>
            </a:avLst>
          </a:prstGeom>
          <a:solidFill>
            <a:srgbClr val="EE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8" name="Tamaño 1, cifra"/>
          <p:cNvSpPr txBox="1"/>
          <p:nvPr/>
        </p:nvSpPr>
        <p:spPr>
          <a:xfrm>
            <a:off x="10003536" y="6327647"/>
            <a:ext cx="2346960" cy="5029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/>
            <a:r>
              <a:rPr sz="3000" b="1" i="0">
                <a:solidFill>
                  <a:srgbClr val="005BBB"/>
                </a:solidFill>
                <a:latin typeface="Arial"/>
              </a:rPr>
              <a:t>50.000</a:t>
            </a:r>
          </a:p>
        </p:txBody>
      </p:sp>
      <p:sp>
        <p:nvSpPr>
          <p:cNvPr id="169" name="Tamaño 1, texto"/>
          <p:cNvSpPr txBox="1"/>
          <p:nvPr/>
        </p:nvSpPr>
        <p:spPr>
          <a:xfrm>
            <a:off x="10003536" y="6857999"/>
            <a:ext cx="2346960" cy="3657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2100"/>
              </a:lnSpc>
            </a:pPr>
            <a:r>
              <a:rPr sz="1500" b="0" i="0">
                <a:solidFill>
                  <a:srgbClr val="5B6675"/>
                </a:solidFill>
                <a:latin typeface="Arial"/>
              </a:rPr>
              <a:t>registros, 2021-2025</a:t>
            </a:r>
          </a:p>
        </p:txBody>
      </p:sp>
      <p:sp>
        <p:nvSpPr>
          <p:cNvPr id="170" name="Tamaño 2"/>
          <p:cNvSpPr/>
          <p:nvPr/>
        </p:nvSpPr>
        <p:spPr>
          <a:xfrm>
            <a:off x="12579096" y="6236207"/>
            <a:ext cx="2621280" cy="1051560"/>
          </a:xfrm>
          <a:prstGeom prst="roundRect">
            <a:avLst>
              <a:gd name="adj" fmla="val 7000"/>
            </a:avLst>
          </a:prstGeom>
          <a:solidFill>
            <a:srgbClr val="EE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1" name="Tamaño 2, cifra"/>
          <p:cNvSpPr txBox="1"/>
          <p:nvPr/>
        </p:nvSpPr>
        <p:spPr>
          <a:xfrm>
            <a:off x="12761976" y="6327647"/>
            <a:ext cx="2346960" cy="5029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/>
            <a:r>
              <a:rPr sz="3000" b="1" i="0">
                <a:solidFill>
                  <a:srgbClr val="005BBB"/>
                </a:solidFill>
                <a:latin typeface="Arial"/>
              </a:rPr>
              <a:t>14</a:t>
            </a:r>
          </a:p>
        </p:txBody>
      </p:sp>
      <p:sp>
        <p:nvSpPr>
          <p:cNvPr id="172" name="Tamaño 2, texto"/>
          <p:cNvSpPr txBox="1"/>
          <p:nvPr/>
        </p:nvSpPr>
        <p:spPr>
          <a:xfrm>
            <a:off x="12761976" y="6857999"/>
            <a:ext cx="2346960" cy="3657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2100"/>
              </a:lnSpc>
            </a:pPr>
            <a:r>
              <a:rPr sz="1500" b="0" i="0">
                <a:solidFill>
                  <a:srgbClr val="5B6675"/>
                </a:solidFill>
                <a:latin typeface="Arial"/>
              </a:rPr>
              <a:t>columnas originales</a:t>
            </a:r>
          </a:p>
        </p:txBody>
      </p:sp>
      <p:sp>
        <p:nvSpPr>
          <p:cNvPr id="173" name="Tamaño 3"/>
          <p:cNvSpPr/>
          <p:nvPr/>
        </p:nvSpPr>
        <p:spPr>
          <a:xfrm>
            <a:off x="15337536" y="6236207"/>
            <a:ext cx="2621280" cy="1051560"/>
          </a:xfrm>
          <a:prstGeom prst="roundRect">
            <a:avLst>
              <a:gd name="adj" fmla="val 7000"/>
            </a:avLst>
          </a:prstGeom>
          <a:solidFill>
            <a:srgbClr val="EE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" name="Tamaño 3, cifra"/>
          <p:cNvSpPr txBox="1"/>
          <p:nvPr/>
        </p:nvSpPr>
        <p:spPr>
          <a:xfrm>
            <a:off x="15520416" y="6327647"/>
            <a:ext cx="2346960" cy="5029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/>
            <a:r>
              <a:rPr sz="3000" b="1" i="0">
                <a:solidFill>
                  <a:srgbClr val="005BBB"/>
                </a:solidFill>
                <a:latin typeface="Arial"/>
              </a:rPr>
              <a:t>101</a:t>
            </a:r>
          </a:p>
        </p:txBody>
      </p:sp>
      <p:sp>
        <p:nvSpPr>
          <p:cNvPr id="175" name="Tamaño 3, texto"/>
          <p:cNvSpPr txBox="1"/>
          <p:nvPr/>
        </p:nvSpPr>
        <p:spPr>
          <a:xfrm>
            <a:off x="15520416" y="6857999"/>
            <a:ext cx="2346960" cy="3657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2100"/>
              </a:lnSpc>
            </a:pPr>
            <a:r>
              <a:rPr sz="1500" b="0" i="0">
                <a:solidFill>
                  <a:srgbClr val="5B6675"/>
                </a:solidFill>
                <a:latin typeface="Arial"/>
              </a:rPr>
              <a:t>features del modelo</a:t>
            </a:r>
          </a:p>
        </p:txBody>
      </p:sp>
      <p:sp>
        <p:nvSpPr>
          <p:cNvPr id="176" name="Atributos, título"/>
          <p:cNvSpPr txBox="1"/>
          <p:nvPr/>
        </p:nvSpPr>
        <p:spPr>
          <a:xfrm>
            <a:off x="9820656" y="7470647"/>
            <a:ext cx="8138160" cy="4114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sz="2000" b="1" i="0">
                <a:solidFill>
                  <a:srgbClr val="0E2841"/>
                </a:solidFill>
                <a:latin typeface="Arial"/>
              </a:rPr>
              <a:t>Atributos (datos tabulares, una fila por empresa y año)</a:t>
            </a:r>
          </a:p>
        </p:txBody>
      </p:sp>
      <p:sp>
        <p:nvSpPr>
          <p:cNvPr id="177" name="Atributo 1"/>
          <p:cNvSpPr/>
          <p:nvPr/>
        </p:nvSpPr>
        <p:spPr>
          <a:xfrm>
            <a:off x="9820656" y="7927847"/>
            <a:ext cx="2621280" cy="1645920"/>
          </a:xfrm>
          <a:prstGeom prst="roundRect">
            <a:avLst>
              <a:gd name="adj" fmla="val 7000"/>
            </a:avLst>
          </a:prstGeom>
          <a:solidFill>
            <a:srgbClr val="EE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8" name="Atributo 1, nombre"/>
          <p:cNvSpPr txBox="1"/>
          <p:nvPr/>
        </p:nvSpPr>
        <p:spPr>
          <a:xfrm>
            <a:off x="9985248" y="8065007"/>
            <a:ext cx="2346960" cy="3657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2100"/>
              </a:lnSpc>
            </a:pPr>
            <a:r>
              <a:rPr sz="1800" b="1" i="0">
                <a:solidFill>
                  <a:srgbClr val="005BBB"/>
                </a:solidFill>
                <a:latin typeface="Arial"/>
              </a:rPr>
              <a:t>Financieras (5)</a:t>
            </a:r>
          </a:p>
        </p:txBody>
      </p:sp>
      <p:sp>
        <p:nvSpPr>
          <p:cNvPr id="179" name="Atributo 1, texto"/>
          <p:cNvSpPr txBox="1"/>
          <p:nvPr/>
        </p:nvSpPr>
        <p:spPr>
          <a:xfrm>
            <a:off x="9985248" y="8458199"/>
            <a:ext cx="2346960" cy="12801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2100"/>
              </a:lnSpc>
            </a:pPr>
            <a:r>
              <a:rPr sz="1500" b="0" i="0">
                <a:solidFill>
                  <a:srgbClr val="404040"/>
                </a:solidFill>
                <a:latin typeface="Arial"/>
              </a:rPr>
              <a:t>Ingresos, ganancia, activos, pasivos y patrimonio</a:t>
            </a:r>
          </a:p>
        </p:txBody>
      </p:sp>
      <p:sp>
        <p:nvSpPr>
          <p:cNvPr id="180" name="Atributo 2"/>
          <p:cNvSpPr/>
          <p:nvPr/>
        </p:nvSpPr>
        <p:spPr>
          <a:xfrm>
            <a:off x="12579096" y="7927847"/>
            <a:ext cx="2621280" cy="1645920"/>
          </a:xfrm>
          <a:prstGeom prst="roundRect">
            <a:avLst>
              <a:gd name="adj" fmla="val 7000"/>
            </a:avLst>
          </a:prstGeom>
          <a:solidFill>
            <a:srgbClr val="EE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1" name="Atributo 2, nombre"/>
          <p:cNvSpPr txBox="1"/>
          <p:nvPr/>
        </p:nvSpPr>
        <p:spPr>
          <a:xfrm>
            <a:off x="12743688" y="8065007"/>
            <a:ext cx="2346960" cy="3657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2100"/>
              </a:lnSpc>
            </a:pPr>
            <a:r>
              <a:rPr sz="1800" b="1" i="0">
                <a:solidFill>
                  <a:srgbClr val="005BBB"/>
                </a:solidFill>
                <a:latin typeface="Arial"/>
              </a:rPr>
              <a:t>Categóricas (4)</a:t>
            </a:r>
          </a:p>
        </p:txBody>
      </p:sp>
      <p:sp>
        <p:nvSpPr>
          <p:cNvPr id="182" name="Atributo 2, texto"/>
          <p:cNvSpPr txBox="1"/>
          <p:nvPr/>
        </p:nvSpPr>
        <p:spPr>
          <a:xfrm>
            <a:off x="12743688" y="8458199"/>
            <a:ext cx="2346960" cy="12801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2100"/>
              </a:lnSpc>
            </a:pPr>
            <a:r>
              <a:rPr sz="1500" b="0" i="0">
                <a:solidFill>
                  <a:srgbClr val="404040"/>
                </a:solidFill>
                <a:latin typeface="Arial"/>
              </a:rPr>
              <a:t>Supervisor, departamento, división CIIU y macrosector</a:t>
            </a:r>
          </a:p>
        </p:txBody>
      </p:sp>
      <p:sp>
        <p:nvSpPr>
          <p:cNvPr id="183" name="Atributo 3"/>
          <p:cNvSpPr/>
          <p:nvPr/>
        </p:nvSpPr>
        <p:spPr>
          <a:xfrm>
            <a:off x="15337536" y="7927847"/>
            <a:ext cx="2621280" cy="1645920"/>
          </a:xfrm>
          <a:prstGeom prst="roundRect">
            <a:avLst>
              <a:gd name="adj" fmla="val 7000"/>
            </a:avLst>
          </a:prstGeom>
          <a:solidFill>
            <a:srgbClr val="EE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4" name="Atributo 3, nombre"/>
          <p:cNvSpPr txBox="1"/>
          <p:nvPr/>
        </p:nvSpPr>
        <p:spPr>
          <a:xfrm>
            <a:off x="15502128" y="8065007"/>
            <a:ext cx="2346960" cy="3657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2100"/>
              </a:lnSpc>
            </a:pPr>
            <a:r>
              <a:rPr sz="1800" b="1" i="0">
                <a:solidFill>
                  <a:srgbClr val="005BBB"/>
                </a:solidFill>
                <a:latin typeface="Arial"/>
              </a:rPr>
              <a:t>Creadas (6)</a:t>
            </a:r>
          </a:p>
        </p:txBody>
      </p:sp>
      <p:sp>
        <p:nvSpPr>
          <p:cNvPr id="185" name="Atributo 3, texto"/>
          <p:cNvSpPr txBox="1"/>
          <p:nvPr/>
        </p:nvSpPr>
        <p:spPr>
          <a:xfrm>
            <a:off x="15502128" y="8458199"/>
            <a:ext cx="2346960" cy="128016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2100"/>
              </a:lnSpc>
            </a:pPr>
            <a:r>
              <a:rPr sz="1500" b="0" i="0">
                <a:solidFill>
                  <a:srgbClr val="404040"/>
                </a:solidFill>
                <a:latin typeface="Arial"/>
              </a:rPr>
              <a:t>Crecimiento de ingresos y de activos, dificultad actual, margen neto, endeudamiento y ROA</a:t>
            </a:r>
          </a:p>
        </p:txBody>
      </p:sp>
      <p:sp>
        <p:nvSpPr>
          <p:cNvPr id="186" name="Preproceso, título"/>
          <p:cNvSpPr txBox="1"/>
          <p:nvPr/>
        </p:nvSpPr>
        <p:spPr>
          <a:xfrm>
            <a:off x="9820656" y="9756647"/>
            <a:ext cx="8138160" cy="4114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sz="2000" b="1" i="0">
                <a:solidFill>
                  <a:srgbClr val="0E2841"/>
                </a:solidFill>
                <a:latin typeface="Arial"/>
              </a:rPr>
              <a:t>Preprocesamiento</a:t>
            </a:r>
          </a:p>
        </p:txBody>
      </p:sp>
      <p:sp>
        <p:nvSpPr>
          <p:cNvPr id="187" name="Preproceso 1"/>
          <p:cNvSpPr/>
          <p:nvPr/>
        </p:nvSpPr>
        <p:spPr>
          <a:xfrm>
            <a:off x="9820656" y="10213847"/>
            <a:ext cx="1482090" cy="457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005BB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8" name="Preproceso 1, texto"/>
          <p:cNvSpPr txBox="1"/>
          <p:nvPr/>
        </p:nvSpPr>
        <p:spPr>
          <a:xfrm>
            <a:off x="9820656" y="10314431"/>
            <a:ext cx="1482090" cy="274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lnSpc>
                <a:spcPts val="2100"/>
              </a:lnSpc>
            </a:pPr>
            <a:r>
              <a:rPr sz="1300" b="1" i="0">
                <a:solidFill>
                  <a:srgbClr val="005BBB"/>
                </a:solidFill>
                <a:latin typeface="Arial"/>
              </a:rPr>
              <a:t>OneHotEncoder</a:t>
            </a:r>
          </a:p>
        </p:txBody>
      </p:sp>
      <p:sp>
        <p:nvSpPr>
          <p:cNvPr id="189" name="Preproceso 2"/>
          <p:cNvSpPr/>
          <p:nvPr/>
        </p:nvSpPr>
        <p:spPr>
          <a:xfrm>
            <a:off x="11569915" y="10213847"/>
            <a:ext cx="1857871" cy="457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005BB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0" name="Preproceso 2, texto"/>
          <p:cNvSpPr txBox="1"/>
          <p:nvPr/>
        </p:nvSpPr>
        <p:spPr>
          <a:xfrm>
            <a:off x="11569915" y="10314431"/>
            <a:ext cx="1857871" cy="274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lnSpc>
                <a:spcPts val="2100"/>
              </a:lnSpc>
            </a:pPr>
            <a:r>
              <a:rPr sz="1300" b="1" i="0">
                <a:solidFill>
                  <a:srgbClr val="005BBB"/>
                </a:solidFill>
                <a:latin typeface="Arial"/>
              </a:rPr>
              <a:t>QuantileTransformer</a:t>
            </a:r>
          </a:p>
        </p:txBody>
      </p:sp>
      <p:sp>
        <p:nvSpPr>
          <p:cNvPr id="191" name="Preproceso 3"/>
          <p:cNvSpPr/>
          <p:nvPr/>
        </p:nvSpPr>
        <p:spPr>
          <a:xfrm>
            <a:off x="13694956" y="10213847"/>
            <a:ext cx="2157730" cy="457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005BB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2" name="Preproceso 3, texto"/>
          <p:cNvSpPr txBox="1"/>
          <p:nvPr/>
        </p:nvSpPr>
        <p:spPr>
          <a:xfrm>
            <a:off x="13694956" y="10314431"/>
            <a:ext cx="2157730" cy="274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lnSpc>
                <a:spcPts val="2100"/>
              </a:lnSpc>
            </a:pPr>
            <a:r>
              <a:rPr sz="1300" b="1" i="0">
                <a:solidFill>
                  <a:srgbClr val="005BBB"/>
                </a:solidFill>
                <a:latin typeface="Arial"/>
              </a:rPr>
              <a:t>Imputación con mediana</a:t>
            </a:r>
          </a:p>
        </p:txBody>
      </p:sp>
      <p:sp>
        <p:nvSpPr>
          <p:cNvPr id="193" name="Preproceso 4"/>
          <p:cNvSpPr/>
          <p:nvPr/>
        </p:nvSpPr>
        <p:spPr>
          <a:xfrm>
            <a:off x="16119855" y="10213847"/>
            <a:ext cx="1838960" cy="457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005BB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4" name="Preproceso 4, texto"/>
          <p:cNvSpPr txBox="1"/>
          <p:nvPr/>
        </p:nvSpPr>
        <p:spPr>
          <a:xfrm>
            <a:off x="16119855" y="10314431"/>
            <a:ext cx="1838960" cy="2743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>
              <a:lnSpc>
                <a:spcPts val="2100"/>
              </a:lnSpc>
            </a:pPr>
            <a:r>
              <a:rPr sz="1300" b="1" i="0">
                <a:solidFill>
                  <a:srgbClr val="005BBB"/>
                </a:solidFill>
                <a:latin typeface="Arial"/>
              </a:rPr>
              <a:t>SMOTE solo en train</a:t>
            </a:r>
          </a:p>
        </p:txBody>
      </p:sp>
      <p:cxnSp>
        <p:nvCxnSpPr>
          <p:cNvPr id="195" name="Separador base"/>
          <p:cNvCxnSpPr/>
          <p:nvPr/>
        </p:nvCxnSpPr>
        <p:spPr>
          <a:xfrm>
            <a:off x="9820656" y="11082527"/>
            <a:ext cx="8138160" cy="0"/>
          </a:xfrm>
          <a:prstGeom prst="line">
            <a:avLst/>
          </a:prstGeom>
          <a:ln w="25400">
            <a:solidFill>
              <a:srgbClr val="000000"/>
            </a:solidFill>
            <a:prstDash val="dash"/>
          </a:ln>
        </p:spPr>
      </p:cxnSp>
      <p:sp>
        <p:nvSpPr>
          <p:cNvPr id="196" name="EDA tarjeta 1"/>
          <p:cNvSpPr/>
          <p:nvPr/>
        </p:nvSpPr>
        <p:spPr>
          <a:xfrm>
            <a:off x="9820656" y="12225527"/>
            <a:ext cx="2621280" cy="1463040"/>
          </a:xfrm>
          <a:prstGeom prst="roundRect">
            <a:avLst>
              <a:gd name="adj" fmla="val 7000"/>
            </a:avLst>
          </a:prstGeom>
          <a:solidFill>
            <a:srgbClr val="EE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7" name="EDA tarjeta 1, cifra"/>
          <p:cNvSpPr txBox="1"/>
          <p:nvPr/>
        </p:nvSpPr>
        <p:spPr>
          <a:xfrm>
            <a:off x="10003536" y="12335255"/>
            <a:ext cx="2346960" cy="54864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/>
            <a:r>
              <a:rPr sz="3200" b="1" i="0">
                <a:solidFill>
                  <a:srgbClr val="C96A05"/>
                </a:solidFill>
                <a:latin typeface="Arial"/>
              </a:rPr>
              <a:t>~5 %</a:t>
            </a:r>
          </a:p>
        </p:txBody>
      </p:sp>
      <p:sp>
        <p:nvSpPr>
          <p:cNvPr id="198" name="EDA tarjeta 1, texto"/>
          <p:cNvSpPr txBox="1"/>
          <p:nvPr/>
        </p:nvSpPr>
        <p:spPr>
          <a:xfrm>
            <a:off x="10003536" y="12911327"/>
            <a:ext cx="2346960" cy="7315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2100"/>
              </a:lnSpc>
            </a:pPr>
            <a:r>
              <a:rPr sz="1500" b="0" i="0">
                <a:solidFill>
                  <a:srgbClr val="5B6675"/>
                </a:solidFill>
                <a:latin typeface="Arial"/>
              </a:rPr>
              <a:t>Tasa anual de dificultad: clases desbalanceadas</a:t>
            </a:r>
          </a:p>
        </p:txBody>
      </p:sp>
      <p:sp>
        <p:nvSpPr>
          <p:cNvPr id="199" name="EDA tarjeta 2"/>
          <p:cNvSpPr/>
          <p:nvPr/>
        </p:nvSpPr>
        <p:spPr>
          <a:xfrm>
            <a:off x="12579096" y="12225527"/>
            <a:ext cx="2621280" cy="1463040"/>
          </a:xfrm>
          <a:prstGeom prst="roundRect">
            <a:avLst>
              <a:gd name="adj" fmla="val 7000"/>
            </a:avLst>
          </a:prstGeom>
          <a:solidFill>
            <a:srgbClr val="EE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0" name="EDA tarjeta 2, cifra"/>
          <p:cNvSpPr txBox="1"/>
          <p:nvPr/>
        </p:nvSpPr>
        <p:spPr>
          <a:xfrm>
            <a:off x="12761976" y="12335255"/>
            <a:ext cx="2346960" cy="54864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/>
            <a:r>
              <a:rPr sz="3200" b="1" i="0">
                <a:solidFill>
                  <a:srgbClr val="005BBB"/>
                </a:solidFill>
                <a:latin typeface="Arial"/>
              </a:rPr>
              <a:t>42.3 %</a:t>
            </a:r>
          </a:p>
        </p:txBody>
      </p:sp>
      <p:sp>
        <p:nvSpPr>
          <p:cNvPr id="201" name="EDA tarjeta 2, texto"/>
          <p:cNvSpPr txBox="1"/>
          <p:nvPr/>
        </p:nvSpPr>
        <p:spPr>
          <a:xfrm>
            <a:off x="12761976" y="12911327"/>
            <a:ext cx="2346960" cy="7315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2100"/>
              </a:lnSpc>
            </a:pPr>
            <a:r>
              <a:rPr sz="1500" b="0" i="0">
                <a:solidFill>
                  <a:srgbClr val="5B6675"/>
                </a:solidFill>
                <a:latin typeface="Arial"/>
              </a:rPr>
              <a:t>de las empresas permanece en el ranking los 5 años</a:t>
            </a:r>
          </a:p>
        </p:txBody>
      </p:sp>
      <p:sp>
        <p:nvSpPr>
          <p:cNvPr id="202" name="EDA tarjeta 3"/>
          <p:cNvSpPr/>
          <p:nvPr/>
        </p:nvSpPr>
        <p:spPr>
          <a:xfrm>
            <a:off x="15337536" y="12225527"/>
            <a:ext cx="2621280" cy="1463040"/>
          </a:xfrm>
          <a:prstGeom prst="roundRect">
            <a:avLst>
              <a:gd name="adj" fmla="val 7000"/>
            </a:avLst>
          </a:prstGeom>
          <a:solidFill>
            <a:srgbClr val="EE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3" name="EDA tarjeta 3, cifra"/>
          <p:cNvSpPr txBox="1"/>
          <p:nvPr/>
        </p:nvSpPr>
        <p:spPr>
          <a:xfrm>
            <a:off x="15520416" y="12335255"/>
            <a:ext cx="2346960" cy="54864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/>
            <a:r>
              <a:rPr sz="3200" b="1" i="0">
                <a:solidFill>
                  <a:srgbClr val="005BBB"/>
                </a:solidFill>
                <a:latin typeface="Arial"/>
              </a:rPr>
              <a:t>0.86</a:t>
            </a:r>
          </a:p>
        </p:txBody>
      </p:sp>
      <p:sp>
        <p:nvSpPr>
          <p:cNvPr id="204" name="EDA tarjeta 3, texto"/>
          <p:cNvSpPr txBox="1"/>
          <p:nvPr/>
        </p:nvSpPr>
        <p:spPr>
          <a:xfrm>
            <a:off x="15520416" y="12911327"/>
            <a:ext cx="2346960" cy="7315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>
              <a:lnSpc>
                <a:spcPts val="2100"/>
              </a:lnSpc>
            </a:pPr>
            <a:r>
              <a:rPr sz="1500" b="0" i="0">
                <a:solidFill>
                  <a:srgbClr val="5B6675"/>
                </a:solidFill>
                <a:latin typeface="Arial"/>
              </a:rPr>
              <a:t>Correlación de Spearman entre activos y pasivos</a:t>
            </a:r>
          </a:p>
        </p:txBody>
      </p:sp>
      <p:sp>
        <p:nvSpPr>
          <p:cNvPr id="205" name="Búsqueda, título"/>
          <p:cNvSpPr txBox="1"/>
          <p:nvPr/>
        </p:nvSpPr>
        <p:spPr>
          <a:xfrm>
            <a:off x="19046952" y="7589520"/>
            <a:ext cx="8138160" cy="4114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sz="2200" b="1" i="0">
                <a:solidFill>
                  <a:srgbClr val="0E2841"/>
                </a:solidFill>
                <a:latin typeface="Arial"/>
              </a:rPr>
              <a:t>Búsqueda de hiperparámetros</a:t>
            </a:r>
          </a:p>
        </p:txBody>
      </p:sp>
      <p:graphicFrame>
        <p:nvGraphicFramePr>
          <p:cNvPr id="206" name="Tabla búsqueda"/>
          <p:cNvGraphicFramePr>
            <a:graphicFrameLocks noGrp="1"/>
          </p:cNvGraphicFramePr>
          <p:nvPr/>
        </p:nvGraphicFramePr>
        <p:xfrm>
          <a:off x="19046952" y="8046720"/>
          <a:ext cx="8138160" cy="230428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1554480"/>
                <a:gridCol w="1417320"/>
                <a:gridCol w="3657600"/>
                <a:gridCol w="1508760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Modelo</a:t>
                      </a:r>
                    </a:p>
                  </a:txBody>
                  <a:tcPr marL="54864" marR="54864" marT="27432" marB="27432" anchor="ctr">
                    <a:solidFill>
                      <a:srgbClr val="2B5C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Búsqueda</a:t>
                      </a:r>
                    </a:p>
                  </a:txBody>
                  <a:tcPr marL="54864" marR="54864" marT="27432" marB="27432" anchor="ctr">
                    <a:solidFill>
                      <a:srgbClr val="2B5C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Hiperparámetros</a:t>
                      </a:r>
                    </a:p>
                  </a:txBody>
                  <a:tcPr marL="54864" marR="54864" marT="27432" marB="27432" anchor="ctr">
                    <a:solidFill>
                      <a:srgbClr val="2B5C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Configuraciones</a:t>
                      </a:r>
                    </a:p>
                  </a:txBody>
                  <a:tcPr marL="54864" marR="54864" marT="27432" marB="27432" anchor="ctr">
                    <a:solidFill>
                      <a:srgbClr val="2B5C8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E2841"/>
                          </a:solidFill>
                          <a:latin typeface="Arial"/>
                        </a:rPr>
                        <a:t>KNN</a:t>
                      </a:r>
                    </a:p>
                  </a:txBody>
                  <a:tcPr marL="54864" marR="54864" marT="27432" marB="27432" anchor="ctr">
                    <a:lnB w="9525">
                      <a:solidFill>
                        <a:srgbClr val="D9DE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04040"/>
                          </a:solidFill>
                          <a:latin typeface="Arial"/>
                        </a:rPr>
                        <a:t>Lista de valores</a:t>
                      </a:r>
                    </a:p>
                  </a:txBody>
                  <a:tcPr marL="54864" marR="54864" marT="27432" marB="27432" anchor="ctr">
                    <a:lnB w="9525">
                      <a:solidFill>
                        <a:srgbClr val="D9DE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04040"/>
                          </a:solidFill>
                          <a:latin typeface="Arial"/>
                        </a:rPr>
                        <a:t>k (25 a 400)</a:t>
                      </a:r>
                    </a:p>
                  </a:txBody>
                  <a:tcPr marL="54864" marR="54864" marT="27432" marB="27432" anchor="ctr">
                    <a:lnB w="9525">
                      <a:solidFill>
                        <a:srgbClr val="D9DE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54864" marR="54864" marT="27432" marB="27432" anchor="ctr">
                    <a:lnB w="9525">
                      <a:solidFill>
                        <a:srgbClr val="D9DEE7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E2841"/>
                          </a:solidFill>
                          <a:latin typeface="Arial"/>
                        </a:rPr>
                        <a:t>SVM</a:t>
                      </a:r>
                    </a:p>
                  </a:txBody>
                  <a:tcPr marL="54864" marR="54864" marT="27432" marB="27432" anchor="ctr">
                    <a:lnB w="9525">
                      <a:solidFill>
                        <a:srgbClr val="D9DE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04040"/>
                          </a:solidFill>
                          <a:latin typeface="Arial"/>
                        </a:rPr>
                        <a:t>Lista de valores</a:t>
                      </a:r>
                    </a:p>
                  </a:txBody>
                  <a:tcPr marL="54864" marR="54864" marT="27432" marB="27432" anchor="ctr">
                    <a:lnB w="9525">
                      <a:solidFill>
                        <a:srgbClr val="D9DE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04040"/>
                          </a:solidFill>
                          <a:latin typeface="Arial"/>
                        </a:rPr>
                        <a:t>C (0.1, 1 y 10)</a:t>
                      </a:r>
                    </a:p>
                  </a:txBody>
                  <a:tcPr marL="54864" marR="54864" marT="27432" marB="27432" anchor="ctr">
                    <a:lnB w="9525">
                      <a:solidFill>
                        <a:srgbClr val="D9DE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4864" marR="54864" marT="27432" marB="27432" anchor="ctr">
                    <a:lnB w="9525">
                      <a:solidFill>
                        <a:srgbClr val="D9DEE7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E2841"/>
                          </a:solidFill>
                          <a:latin typeface="Arial"/>
                        </a:rPr>
                        <a:t>Decision Tree</a:t>
                      </a:r>
                    </a:p>
                  </a:txBody>
                  <a:tcPr marL="54864" marR="54864" marT="27432" marB="27432" anchor="ctr">
                    <a:lnB w="9525">
                      <a:solidFill>
                        <a:srgbClr val="D9DE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04040"/>
                          </a:solidFill>
                          <a:latin typeface="Arial"/>
                        </a:rPr>
                        <a:t>Lista de valores</a:t>
                      </a:r>
                    </a:p>
                  </a:txBody>
                  <a:tcPr marL="54864" marR="54864" marT="27432" marB="27432" anchor="ctr">
                    <a:lnB w="9525">
                      <a:solidFill>
                        <a:srgbClr val="D9DE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04040"/>
                          </a:solidFill>
                          <a:latin typeface="Arial"/>
                        </a:rPr>
                        <a:t>max depth (2 a 12)</a:t>
                      </a:r>
                    </a:p>
                  </a:txBody>
                  <a:tcPr marL="54864" marR="54864" marT="27432" marB="27432" anchor="ctr">
                    <a:lnB w="9525">
                      <a:solidFill>
                        <a:srgbClr val="D9DE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54864" marR="54864" marT="27432" marB="27432" anchor="ctr">
                    <a:lnB w="9525">
                      <a:solidFill>
                        <a:srgbClr val="D9DEE7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E2841"/>
                          </a:solidFill>
                          <a:latin typeface="Arial"/>
                        </a:rPr>
                        <a:t>Random Forest</a:t>
                      </a:r>
                    </a:p>
                  </a:txBody>
                  <a:tcPr marL="54864" marR="54864" marT="27432" marB="27432" anchor="ctr">
                    <a:lnB w="9525">
                      <a:solidFill>
                        <a:srgbClr val="D9DE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04040"/>
                          </a:solidFill>
                          <a:latin typeface="Arial"/>
                        </a:rPr>
                        <a:t>Grid search</a:t>
                      </a:r>
                    </a:p>
                  </a:txBody>
                  <a:tcPr marL="54864" marR="54864" marT="27432" marB="27432" anchor="ctr">
                    <a:lnB w="9525">
                      <a:solidFill>
                        <a:srgbClr val="D9DE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04040"/>
                          </a:solidFill>
                          <a:latin typeface="Arial"/>
                        </a:rPr>
                        <a:t>max depth, min samples leaf, max features</a:t>
                      </a:r>
                    </a:p>
                  </a:txBody>
                  <a:tcPr marL="54864" marR="54864" marT="27432" marB="27432" anchor="ctr">
                    <a:lnB w="9525">
                      <a:solidFill>
                        <a:srgbClr val="D9DE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54864" marR="54864" marT="27432" marB="27432" anchor="ctr">
                    <a:lnB w="9525">
                      <a:solidFill>
                        <a:srgbClr val="D9DEE7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E2841"/>
                          </a:solidFill>
                          <a:latin typeface="Arial"/>
                        </a:rPr>
                        <a:t>Random Forest</a:t>
                      </a:r>
                    </a:p>
                  </a:txBody>
                  <a:tcPr marL="54864" marR="54864" marT="27432" marB="27432" anchor="ctr">
                    <a:lnB w="9525">
                      <a:solidFill>
                        <a:srgbClr val="D9DE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04040"/>
                          </a:solidFill>
                          <a:latin typeface="Arial"/>
                        </a:rPr>
                        <a:t>Optuna (TPE)</a:t>
                      </a:r>
                    </a:p>
                  </a:txBody>
                  <a:tcPr marL="54864" marR="54864" marT="27432" marB="27432" anchor="ctr">
                    <a:lnB w="9525">
                      <a:solidFill>
                        <a:srgbClr val="D9DE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04040"/>
                          </a:solidFill>
                          <a:latin typeface="Arial"/>
                        </a:rPr>
                        <a:t>max depth, min samples leaf, max features</a:t>
                      </a:r>
                    </a:p>
                  </a:txBody>
                  <a:tcPr marL="54864" marR="54864" marT="27432" marB="27432" anchor="ctr">
                    <a:lnB w="9525">
                      <a:solidFill>
                        <a:srgbClr val="D9DE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54864" marR="54864" marT="27432" marB="27432" anchor="ctr">
                    <a:lnB w="9525">
                      <a:solidFill>
                        <a:srgbClr val="D9DEE7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E2841"/>
                          </a:solidFill>
                          <a:latin typeface="Arial"/>
                        </a:rPr>
                        <a:t>Neural Network</a:t>
                      </a:r>
                    </a:p>
                  </a:txBody>
                  <a:tcPr marL="54864" marR="54864" marT="27432" marB="27432" anchor="ctr">
                    <a:lnB w="9525">
                      <a:solidFill>
                        <a:srgbClr val="D9DE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04040"/>
                          </a:solidFill>
                          <a:latin typeface="Arial"/>
                        </a:rPr>
                        <a:t>Optuna (TPE)</a:t>
                      </a:r>
                    </a:p>
                  </a:txBody>
                  <a:tcPr marL="54864" marR="54864" marT="27432" marB="27432" anchor="ctr">
                    <a:lnB w="9525">
                      <a:solidFill>
                        <a:srgbClr val="D9DE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404040"/>
                          </a:solidFill>
                          <a:latin typeface="Arial"/>
                        </a:rPr>
                        <a:t>layers, neurons, dropout, learning rate, epochs, optimizer</a:t>
                      </a:r>
                    </a:p>
                  </a:txBody>
                  <a:tcPr marL="54864" marR="54864" marT="27432" marB="27432" anchor="ctr">
                    <a:lnB w="9525">
                      <a:solidFill>
                        <a:srgbClr val="D9DE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54864" marR="54864" marT="27432" marB="27432" anchor="ctr">
                    <a:lnB w="9525">
                      <a:solidFill>
                        <a:srgbClr val="D9DEE7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7" name="Optimización, título"/>
          <p:cNvSpPr txBox="1"/>
          <p:nvPr/>
        </p:nvSpPr>
        <p:spPr>
          <a:xfrm>
            <a:off x="19046952" y="10515600"/>
            <a:ext cx="8138160" cy="4114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sz="2200" b="1" i="0">
                <a:solidFill>
                  <a:srgbClr val="0E2841"/>
                </a:solidFill>
                <a:latin typeface="Arial"/>
              </a:rPr>
              <a:t>Efecto de la optimización en validation (2023)</a:t>
            </a:r>
          </a:p>
        </p:txBody>
      </p:sp>
      <p:graphicFrame>
        <p:nvGraphicFramePr>
          <p:cNvPr id="208" name="Gráfico efecto optimización"/>
          <p:cNvGraphicFramePr>
            <a:graphicFrameLocks noGrp="1"/>
          </p:cNvGraphicFramePr>
          <p:nvPr/>
        </p:nvGraphicFramePr>
        <p:xfrm>
          <a:off x="19046952" y="10927080"/>
          <a:ext cx="8138160" cy="3291840"/>
        </p:xfrm>
        <a:graphic>
          <a:graphicData uri="http://schemas.openxmlformats.org/drawingml/2006/chart">
            <c:chart xmlns:c="http://schemas.openxmlformats.org/drawingml/2006/chart" r:id="rId16"/>
          </a:graphicData>
        </a:graphic>
      </p:graphicFrame>
      <p:cxnSp>
        <p:nvCxnSpPr>
          <p:cNvPr id="209" name="Separador conclusiones"/>
          <p:cNvCxnSpPr/>
          <p:nvPr/>
        </p:nvCxnSpPr>
        <p:spPr>
          <a:xfrm>
            <a:off x="28337256" y="9848087"/>
            <a:ext cx="8138160" cy="0"/>
          </a:xfrm>
          <a:prstGeom prst="line">
            <a:avLst/>
          </a:prstGeom>
          <a:ln w="25400">
            <a:solidFill>
              <a:srgbClr val="000000"/>
            </a:solidFill>
            <a:prstDash val="dash"/>
          </a:ln>
        </p:spPr>
      </p:cxnSp>
      <p:sp>
        <p:nvSpPr>
          <p:cNvPr id="210" name="Conclusión 2b, círculo"/>
          <p:cNvSpPr/>
          <p:nvPr/>
        </p:nvSpPr>
        <p:spPr>
          <a:xfrm>
            <a:off x="28337256" y="13139927"/>
            <a:ext cx="768096" cy="768096"/>
          </a:xfrm>
          <a:prstGeom prst="ellipse">
            <a:avLst/>
          </a:prstGeom>
          <a:solidFill>
            <a:srgbClr val="005BB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1" name="Conclusión 2b, ícono" descr="bell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8521600" y="13324270"/>
            <a:ext cx="399409" cy="399409"/>
          </a:xfrm>
          <a:prstGeom prst="rect">
            <a:avLst/>
          </a:prstGeom>
        </p:spPr>
      </p:pic>
      <p:sp>
        <p:nvSpPr>
          <p:cNvPr id="212" name="Conclusión 2b, texto"/>
          <p:cNvSpPr txBox="1"/>
          <p:nvPr/>
        </p:nvSpPr>
        <p:spPr>
          <a:xfrm>
            <a:off x="29306521" y="13048487"/>
            <a:ext cx="7114032" cy="224028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/>
            <a:r>
              <a:rPr sz="2400" b="1" i="0">
                <a:solidFill>
                  <a:srgbClr val="0E2841"/>
                </a:solidFill>
                <a:latin typeface="Arial"/>
              </a:rPr>
              <a:t>Sistema de alerta temprana viable</a:t>
            </a:r>
          </a:p>
          <a:p>
            <a:pPr algn="l">
              <a:spcBef>
                <a:spcPts val="200"/>
              </a:spcBef>
            </a:pPr>
            <a:r>
              <a:rPr sz="2000" b="0" i="0">
                <a:solidFill>
                  <a:srgbClr val="5B6675"/>
                </a:solidFill>
                <a:latin typeface="Arial"/>
              </a:rPr>
              <a:t>Predice qué empresas tendrán pérdidas netas o patrimonio negativo con un año de anticipación, un tiempo viable para la Superintendencia de Sociedades. Concentra la supervisión en el 10 % con mayor probabilidad predicha, un porcentaje ajustable a la capacidad de revisión.</a:t>
            </a:r>
          </a:p>
        </p:txBody>
      </p:sp>
    </p:spTree>
    <p:extLst>
      <p:ext uri="{BB962C8B-B14F-4D97-AF65-F5344CB8AC3E}">
        <p14:creationId xmlns:p14="http://schemas.microsoft.com/office/powerpoint/2010/main" val="36028418"/>
      </p:ext>
    </p:extLst>
  </p:cSld>
  <p:clrMapOvr>
    <a:masterClrMapping/>
  </p:clrMapOvr>
</p:sld>
</file>

<file path=ppt/theme/theme1.xml><?xml version="1.0" encoding="utf-8"?>
<a:theme xmlns:a="http://schemas.openxmlformats.org/drawingml/2006/main" name="1_Research Poster Templat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UB Powerpoint Theme</Template>
  <TotalTime>525</TotalTime>
  <Words>472</Words>
  <Application>Microsoft Office PowerPoint</Application>
  <PresentationFormat>Custom</PresentationFormat>
  <Paragraphs>58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1_Research Poster Template</vt:lpstr>
      <vt:lpstr>PowerPoint Presentation</vt:lpstr>
    </vt:vector>
  </TitlesOfParts>
  <Manager/>
  <Company>© University at Buffalo</Company>
  <LinksUpToDate>false</LinksUpToDate>
  <SharedDoc>false</SharedDoc>
  <HyperlinkBase>www.buffalo.edu/brand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Alerta temprana de dificultades financieras</dc:title>
  <dc:subject>Póster, Optimización e Inteligencia Artificial 2026-II</dc:subject>
  <dc:creator>Constanza Torres</dc:creator>
  <cp:keywords/>
  <dc:description/>
  <cp:lastModifiedBy>Maria Torres</cp:lastModifiedBy>
  <cp:revision>66</cp:revision>
  <cp:lastPrinted>2016-09-29T19:48:31Z</cp:lastPrinted>
  <dcterms:created xsi:type="dcterms:W3CDTF">2016-09-29T18:43:16Z</dcterms:created>
  <dcterms:modified xsi:type="dcterms:W3CDTF">2026-09-26T17:07:16Z</dcterms:modified>
  <cp:category/>
</cp:coreProperties>
</file>